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8ac9f408694fcd" /><Relationship Type="http://schemas.openxmlformats.org/officeDocument/2006/relationships/extended-properties" Target="/docProps/app.xml" Id="R4b92f99359fa4e14" /><Relationship Type="http://schemas.openxmlformats.org/officeDocument/2006/relationships/officeDocument" Target="/ppt/presentation.xml" Id="Rf8510aba21e641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0e4646928c476a"/>
  </p:sldMasterIdLst>
  <p:notesMasterIdLst>
    <p:notesMasterId xmlns:r="http://schemas.openxmlformats.org/officeDocument/2006/relationships" r:id="R740f9aaa0494481c"/>
  </p:notesMasterIdLst>
  <p:sldIdLst>
    <p:sldId xmlns:r="http://schemas.openxmlformats.org/officeDocument/2006/relationships" id="256" r:id="Ra7a80a1601044e91"/>
    <p:sldId xmlns:r="http://schemas.openxmlformats.org/officeDocument/2006/relationships" id="257" r:id="R3347a48df0b9468a"/>
    <p:sldId xmlns:r="http://schemas.openxmlformats.org/officeDocument/2006/relationships" id="258" r:id="Rfe7ff9b156ce4c58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656f854af849ba" /><Relationship Type="http://schemas.openxmlformats.org/officeDocument/2006/relationships/slideMaster" Target="/ppt/slideMasters/slideMaster1.xml" Id="R8c0e4646928c476a" /><Relationship Type="http://schemas.openxmlformats.org/officeDocument/2006/relationships/notesMaster" Target="/ppt/notesMasters/notesMaster1.xml" Id="R740f9aaa0494481c" /><Relationship Type="http://schemas.openxmlformats.org/officeDocument/2006/relationships/presProps" Target="/ppt/presProps.xml" Id="Ra5e277ede65844cd" /><Relationship Type="http://schemas.openxmlformats.org/officeDocument/2006/relationships/tableStyles" Target="/ppt/tableStyles.xml" Id="R24f6c207b3b147bb" /><Relationship Type="http://schemas.openxmlformats.org/officeDocument/2006/relationships/slide" Target="/ppt/slides/slide1.xml" Id="Ra7a80a1601044e91" /><Relationship Type="http://schemas.openxmlformats.org/officeDocument/2006/relationships/slide" Target="/ppt/slides/slide2.xml" Id="R3347a48df0b9468a" /><Relationship Type="http://schemas.openxmlformats.org/officeDocument/2006/relationships/slide" Target="/ppt/slides/slide3.xml" Id="Rfe7ff9b156ce4c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2d78abf66f46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3e3a6afcf34f5a" /><Relationship Type="http://schemas.openxmlformats.org/officeDocument/2006/relationships/notesMaster" Target="/ppt/notesMasters/notesMaster1.xml" Id="R3f98b16c0c5a44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9e572c3c104c09" /><Relationship Type="http://schemas.openxmlformats.org/officeDocument/2006/relationships/notesMaster" Target="/ppt/notesMasters/notesMaster1.xml" Id="R985724a8833c4d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32a37b19d64231" /><Relationship Type="http://schemas.openxmlformats.org/officeDocument/2006/relationships/notesMaster" Target="/ppt/notesMasters/notesMaster1.xml" Id="R94c19c11761348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Artificial Analysis Music Arena商业模型与WildSongBench开放模型中，哪些有RL/偏好后训练证据？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先看训练证据，不要从排行榜猜训练。商业侧，Lyria明确写了人类和评委反馈RL；Suno等高排名系统没有披露足够细节，我们只能写未知。开放侧已经有很清晰的两条线：LeVo 2、HeartMuLa、DiffRhythm 2做偏好对训练；MuseCritic和ACE的部分设置做在线奖励训练。这里最容易误读的是版本：原Muse不等于GRPO后的Muse，ACE论文主对比甚至明确是no RL。最后，AA是人类盲听，WSB是给定歌词的自动评测，两者不能拼成一条排名线。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这张表回答的是“公开证据是什么”，不是“哪家内部绝对做了什么”。Lyria模型卡可以支持RL标签，但不支持指定某个算法；Mureka只在家族历史层面有高层披露。开放模型的证据更细：LeVo 2先离线可控性DPO，再半在线音乐性DPO；HeartMuLa分轴构造偏好；DiffRhythm的CPPO名字很像PPO，实际上不是在线PPO。SongBloom要分2025监督原版与2026带DPO的扩展，不能把扩展套给基准权重。对我们的结论是：回到DPO有直接音乐先例，但并不构成GRPO失败的普遍定律。需要把奖励可靠性、偏好数据刷新、训练接口与退化检查拆开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AA名次是2026-10-15快照；人声/器乐独立，不可横比Elo。部分置信区间重叠，点名次不等于显著胜出。</a:t>
            </a:r>
          </a:p>
          <a:p xmlns:a="http://schemas.openxmlformats.org/drawingml/2006/main">
            <a:r>
              <a:t>WSB为官方2026-09-12结果快照：192条件、17设置；这里列开放模型家族，不宣称所有开放权重均可商用。</a:t>
            </a:r>
          </a:p>
          <a:p xmlns:a="http://schemas.openxmlformats.org/drawingml/2006/main">
            <a:r>
              <a:t>未披露≠没用RL；偏好对训练≠在线策略梯度；强产品能力≠RL因果证据。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逐行来源：</a:t>
            </a:r>
          </a:p>
          <a:p xmlns:a="http://schemas.openxmlformats.org/drawingml/2006/main">
            <a:r>
              <a:t>suno: AA-V, AA-I, SUNO</a:t>
            </a:r>
          </a:p>
          <a:p xmlns:a="http://schemas.openxmlformats.org/drawingml/2006/main">
            <a:r>
              <a:t>mureka: AA-V, AA-I, MUREKA</a:t>
            </a:r>
          </a:p>
          <a:p xmlns:a="http://schemas.openxmlformats.org/drawingml/2006/main">
            <a:r>
              <a:t>lyria3: LYRIA3, LYRIA35</a:t>
            </a:r>
          </a:p>
          <a:p xmlns:a="http://schemas.openxmlformats.org/drawingml/2006/main">
            <a:r>
              <a:t>lyria2: AA-I, GOOGLE-MUSIC</a:t>
            </a:r>
          </a:p>
          <a:p xmlns:a="http://schemas.openxmlformats.org/drawingml/2006/main">
            <a:r>
              <a:t>eleven: AA-V, AA-I, ELEVEN</a:t>
            </a:r>
          </a:p>
          <a:p xmlns:a="http://schemas.openxmlformats.org/drawingml/2006/main">
            <a:r>
              <a:t>minimax: MINIMAX3, AA-V, AA-I, WSB</a:t>
            </a:r>
          </a:p>
          <a:p xmlns:a="http://schemas.openxmlformats.org/drawingml/2006/main">
            <a:r>
              <a:t>stable: STABLE3, AA-I</a:t>
            </a:r>
          </a:p>
          <a:p xmlns:a="http://schemas.openxmlformats.org/drawingml/2006/main">
            <a:r>
              <a:t>melodia: SONAUTO, AA-V, AA-I</a:t>
            </a:r>
          </a:p>
          <a:p xmlns:a="http://schemas.openxmlformats.org/drawingml/2006/main">
            <a:r>
              <a:t>musicgen: MUSICGEN, AA-I</a:t>
            </a:r>
          </a:p>
          <a:p xmlns:a="http://schemas.openxmlformats.org/drawingml/2006/main">
            <a:r>
              <a:t>yue2: YUE2, YUE2-CARD, WSB</a:t>
            </a:r>
          </a:p>
          <a:p xmlns:a="http://schemas.openxmlformats.org/drawingml/2006/main">
            <a:r>
              <a:t>yue1: YUE1, WSB</a:t>
            </a:r>
          </a:p>
          <a:p xmlns:a="http://schemas.openxmlformats.org/drawingml/2006/main">
            <a:r>
              <a:t>levo2: LEVO2, WSB</a:t>
            </a:r>
          </a:p>
          <a:p xmlns:a="http://schemas.openxmlformats.org/drawingml/2006/main">
            <a:r>
              <a:t>heart: HEART, WSB</a:t>
            </a:r>
          </a:p>
          <a:p xmlns:a="http://schemas.openxmlformats.org/drawingml/2006/main">
            <a:r>
              <a:t>muse: MUSE, MUSECRITIC, WSB</a:t>
            </a:r>
          </a:p>
          <a:p xmlns:a="http://schemas.openxmlformats.org/drawingml/2006/main">
            <a:r>
              <a:t>ace: ACE15, ACE-REPO, WSB</a:t>
            </a:r>
          </a:p>
          <a:p xmlns:a="http://schemas.openxmlformats.org/drawingml/2006/main">
            <a:r>
              <a:t>diffr2: DIFFR2, WSB</a:t>
            </a:r>
          </a:p>
          <a:p xmlns:a="http://schemas.openxmlformats.org/drawingml/2006/main">
            <a:r>
              <a:t>songbloom: SONGBLOOM25, SONGBLOOM26, WSB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文献与官方资料：</a:t>
            </a:r>
          </a:p>
          <a:p xmlns:a="http://schemas.openxmlformats.org/drawingml/2006/main">
            <a:r>
              <a:t>AA-V: AA-Music-Vocal v1.1 Leaderboard</a:t>
            </a:r>
          </a:p>
          <a:p xmlns:a="http://schemas.openxmlformats.org/drawingml/2006/main">
            <a:r>
              <a:t>https://artificialanalysis.ai/music/leaderboard/vocals</a:t>
            </a:r>
          </a:p>
          <a:p xmlns:a="http://schemas.openxmlformats.org/drawingml/2006/main">
            <a:r>
              <a:t>定位：整表、FAQ</a:t>
            </a:r>
          </a:p>
          <a:p xmlns:a="http://schemas.openxmlformats.org/drawingml/2006/main">
            <a:r>
              <a:t>AA-I: AA-Music-Instrumental v1.1 Leaderboard</a:t>
            </a:r>
          </a:p>
          <a:p xmlns:a="http://schemas.openxmlformats.org/drawingml/2006/main">
            <a:r>
              <a:t>https://artificialanalysis.ai/music/leaderboard/instrumental?tab=leaderboard</a:t>
            </a:r>
          </a:p>
          <a:p xmlns:a="http://schemas.openxmlformats.org/drawingml/2006/main">
            <a:r>
              <a:t>定位：整表、FAQ</a:t>
            </a:r>
          </a:p>
          <a:p xmlns:a="http://schemas.openxmlformats.org/drawingml/2006/main">
            <a:r>
              <a:t>AA-METHOD: Music Generation Benchmarking Methodology</a:t>
            </a:r>
          </a:p>
          <a:p xmlns:a="http://schemas.openxmlformats.org/drawingml/2006/main">
            <a:r>
              <a:t>https://artificialanalysis.ai/methodology/music</a:t>
            </a:r>
          </a:p>
          <a:p xmlns:a="http://schemas.openxmlformats.org/drawingml/2006/main">
            <a:r>
              <a:t>定位：评委、生成设置、响度、歌词</a:t>
            </a:r>
          </a:p>
          <a:p xmlns:a="http://schemas.openxmlformats.org/drawingml/2006/main">
            <a:r>
              <a:t>WSB: WildSongBench: results and evaluation scope</a:t>
            </a:r>
          </a:p>
          <a:p xmlns:a="http://schemas.openxmlformats.org/drawingml/2006/main">
            <a:r>
              <a:t>https://huggingface.co/datasets/m-a-p/WildSongBench/blob/e361b85a8d7365d3079fa9647641a87ce3c8c5b5/benchmark/results.md</a:t>
            </a:r>
          </a:p>
          <a:p xmlns:a="http://schemas.openxmlformats.org/drawingml/2006/main">
            <a:r>
              <a:t>定位：17设置、192条件、筛选及decoder</a:t>
            </a:r>
          </a:p>
          <a:p xmlns:a="http://schemas.openxmlformats.org/drawingml/2006/main">
            <a:r>
              <a:t>SUNO: Introducing v6</a:t>
            </a:r>
          </a:p>
          <a:p xmlns:a="http://schemas.openxmlformats.org/drawingml/2006/main">
            <a:r>
              <a:t>https://about.suno.com/blog/introducing-v6</a:t>
            </a:r>
          </a:p>
          <a:p xmlns:a="http://schemas.openxmlformats.org/drawingml/2006/main">
            <a:r>
              <a:t>定位：v6家族能力与披露范围</a:t>
            </a:r>
          </a:p>
          <a:p xmlns:a="http://schemas.openxmlformats.org/drawingml/2006/main">
            <a:r>
              <a:t>MUREKA: What is Mureka?</a:t>
            </a:r>
          </a:p>
          <a:p xmlns:a="http://schemas.openxmlformats.org/drawingml/2006/main">
            <a:r>
              <a:t>https://www.mureka.ai/blog_en/what-is-mureka.html</a:t>
            </a:r>
          </a:p>
          <a:p xmlns:a="http://schemas.openxmlformats.org/drawingml/2006/main">
            <a:r>
              <a:t>定位：历史V7/V7.5 RL；V9/V9.5</a:t>
            </a:r>
          </a:p>
          <a:p xmlns:a="http://schemas.openxmlformats.org/drawingml/2006/main">
            <a:r>
              <a:t>LYRIA3: Lyria 3 Model Card</a:t>
            </a:r>
          </a:p>
          <a:p xmlns:a="http://schemas.openxmlformats.org/drawingml/2006/main">
            <a:r>
              <a:t>https://deepmind.google/models/model-cards/lyria-3/</a:t>
            </a:r>
          </a:p>
          <a:p xmlns:a="http://schemas.openxmlformats.org/drawingml/2006/main">
            <a:r>
              <a:t>定位：Risks and Mitigations；RL披露</a:t>
            </a:r>
          </a:p>
          <a:p xmlns:a="http://schemas.openxmlformats.org/drawingml/2006/main">
            <a:r>
              <a:t>LYRIA35: Lyria 3.5 Model Card</a:t>
            </a:r>
          </a:p>
          <a:p xmlns:a="http://schemas.openxmlformats.org/drawingml/2006/main">
            <a:r>
              <a:t>https://deepmind.google/models/model-cards/lyria-3-5/</a:t>
            </a:r>
          </a:p>
          <a:p xmlns:a="http://schemas.openxmlformats.org/drawingml/2006/main">
            <a:r>
              <a:t>定位：Risks and Mitigations；RL披露</a:t>
            </a:r>
          </a:p>
          <a:p xmlns:a="http://schemas.openxmlformats.org/drawingml/2006/main">
            <a:r>
              <a:t>GOOGLE-MUSIC: New generative AI tools open the doors of music creation</a:t>
            </a:r>
          </a:p>
          <a:p xmlns:a="http://schemas.openxmlformats.org/drawingml/2006/main">
            <a:r>
              <a:t>https://deepmind.google/blog/new-generative-ai-tools-open-the-doors-of-music-creation/</a:t>
            </a:r>
          </a:p>
          <a:p xmlns:a="http://schemas.openxmlformats.org/drawingml/2006/main">
            <a:r>
              <a:t>定位：音乐质量/文本遵循RL；不作版本配方对应</a:t>
            </a:r>
          </a:p>
          <a:p xmlns:a="http://schemas.openxmlformats.org/drawingml/2006/main">
            <a:r>
              <a:t>ELEVEN: Introducing Music v2.5, our best music model yet</a:t>
            </a:r>
          </a:p>
          <a:p xmlns:a="http://schemas.openxmlformats.org/drawingml/2006/main">
            <a:r>
              <a:t>https://elevenlabs.io/blog/music-v2-5-model</a:t>
            </a:r>
          </a:p>
          <a:p xmlns:a="http://schemas.openxmlformats.org/drawingml/2006/main">
            <a:r>
              <a:t>定位：能力、人评；未给生成器RL配方</a:t>
            </a:r>
          </a:p>
          <a:p xmlns:a="http://schemas.openxmlformats.org/drawingml/2006/main">
            <a:r>
              <a:t>MINIMAX3: MiniMax Music 3</a:t>
            </a:r>
          </a:p>
          <a:p xmlns:a="http://schemas.openxmlformats.org/drawingml/2006/main">
            <a:r>
              <a:t>https://github.com/MiniMax-AI/MiniMax-Music3</a:t>
            </a:r>
          </a:p>
          <a:p xmlns:a="http://schemas.openxmlformats.org/drawingml/2006/main">
            <a:r>
              <a:t>定位：Hybrid-LM、hidden-state FM、release；未给RL配方</a:t>
            </a:r>
          </a:p>
          <a:p xmlns:a="http://schemas.openxmlformats.org/drawingml/2006/main">
            <a:r>
              <a:t>STABLE3: Introducing Stable Audio 3 &amp; SAME (Semantically-Aligned Music Autoencoder)</a:t>
            </a:r>
          </a:p>
          <a:p xmlns:a="http://schemas.openxmlformats.org/drawingml/2006/main">
            <a:r>
              <a:t>https://stability.ai/research/stable-audio-3</a:t>
            </a:r>
          </a:p>
          <a:p xmlns:a="http://schemas.openxmlformats.org/drawingml/2006/main">
            <a:r>
              <a:t>定位：对抗后训练；small/medium权重</a:t>
            </a:r>
          </a:p>
          <a:p xmlns:a="http://schemas.openxmlformats.org/drawingml/2006/main">
            <a:r>
              <a:t>SONAUTO: Treblo (Sonauto domain redirect)</a:t>
            </a:r>
          </a:p>
          <a:p xmlns:a="http://schemas.openxmlformats.org/drawingml/2006/main">
            <a:r>
              <a:t>https://treblo.com/</a:t>
            </a:r>
          </a:p>
          <a:p xmlns:a="http://schemas.openxmlformats.org/drawingml/2006/main">
            <a:r>
              <a:t>定位：产品介绍；无可核验RL配方</a:t>
            </a:r>
          </a:p>
          <a:p xmlns:a="http://schemas.openxmlformats.org/drawingml/2006/main">
            <a:r>
              <a:t>YUE2: YuE2: Unifying Symbolic and Audio Music Generation at Frontier Quality</a:t>
            </a:r>
          </a:p>
          <a:p xmlns:a="http://schemas.openxmlformats.org/drawingml/2006/main">
            <a:r>
              <a:t>https://arxiv.org/abs/2609.33757</a:t>
            </a:r>
          </a:p>
          <a:p xmlns:a="http://schemas.openxmlformats.org/drawingml/2006/main">
            <a:r>
              <a:t>定位：监督建模、符号规划、WSB、候选预算</a:t>
            </a:r>
          </a:p>
          <a:p xmlns:a="http://schemas.openxmlformats.org/drawingml/2006/main">
            <a:r>
              <a:t>YUE2-CARD: YuE2-3B official model card</a:t>
            </a:r>
          </a:p>
          <a:p xmlns:a="http://schemas.openxmlformats.org/drawingml/2006/main">
            <a:r>
              <a:t>https://huggingface.co/m-a-p/YuE2-3B</a:t>
            </a:r>
          </a:p>
          <a:p xmlns:a="http://schemas.openxmlformats.org/drawingml/2006/main">
            <a:r>
              <a:t>定位：planning / editing / license / evaluation decoder</a:t>
            </a:r>
          </a:p>
          <a:p xmlns:a="http://schemas.openxmlformats.org/drawingml/2006/main">
            <a:r>
              <a:t>YUE1: YuE: Scaling Open Foundation Models for Long-Form Music Generation</a:t>
            </a:r>
          </a:p>
          <a:p xmlns:a="http://schemas.openxmlformats.org/drawingml/2006/main">
            <a:r>
              <a:t>https://arxiv.org/abs/2503.08638</a:t>
            </a:r>
          </a:p>
          <a:p xmlns:a="http://schemas.openxmlformats.org/drawingml/2006/main">
            <a:r>
              <a:t>定位：多阶段next-token训练</a:t>
            </a:r>
          </a:p>
          <a:p xmlns:a="http://schemas.openxmlformats.org/drawingml/2006/main">
            <a:r>
              <a:t>MUSICGEN: Simple and Controllable Music Generation</a:t>
            </a:r>
          </a:p>
          <a:p xmlns:a="http://schemas.openxmlformats.org/drawingml/2006/main">
            <a:r>
              <a:t>https://arxiv.org/abs/2306.05284</a:t>
            </a:r>
          </a:p>
          <a:p xmlns:a="http://schemas.openxmlformats.org/drawingml/2006/main">
            <a:r>
              <a:t>定位：MusicGen监督token建模</a:t>
            </a:r>
          </a:p>
          <a:p xmlns:a="http://schemas.openxmlformats.org/drawingml/2006/main">
            <a:r>
              <a:t>LEVO2: LeVo 2: Stable and Melodious Song Generation via Hierarchical Representation Modeling and Progressive Post-Training</a:t>
            </a:r>
          </a:p>
          <a:p xmlns:a="http://schemas.openxmlformats.org/drawingml/2006/main">
            <a:r>
              <a:t>https://arxiv.org/abs/2606.30642</a:t>
            </a:r>
          </a:p>
          <a:p xmlns:a="http://schemas.openxmlformats.org/drawingml/2006/main">
            <a:r>
              <a:t>定位：§III-E；offline / semi-online DPO</a:t>
            </a:r>
          </a:p>
          <a:p xmlns:a="http://schemas.openxmlformats.org/drawingml/2006/main">
            <a:r>
              <a:t>HEART: HeartMuLa: A Family of Open Sourced Music Foundation Models</a:t>
            </a:r>
          </a:p>
          <a:p xmlns:a="http://schemas.openxmlformats.org/drawingml/2006/main">
            <a:r>
              <a:t>https://arxiv.org/abs/2601.10547</a:t>
            </a:r>
          </a:p>
          <a:p xmlns:a="http://schemas.openxmlformats.org/drawingml/2006/main">
            <a:r>
              <a:t>定位：§3.3 Stage4 DPO；Tables14–16</a:t>
            </a:r>
          </a:p>
          <a:p xmlns:a="http://schemas.openxmlformats.org/drawingml/2006/main">
            <a:r>
              <a:t>MUSE: Muse: Towards Reproducible Long-Form Song Generation with Fine-Grained Style Control</a:t>
            </a:r>
          </a:p>
          <a:p xmlns:a="http://schemas.openxmlformats.org/drawingml/2006/main">
            <a:r>
              <a:t>https://arxiv.org/abs/2601.03973</a:t>
            </a:r>
          </a:p>
          <a:p xmlns:a="http://schemas.openxmlformats.org/drawingml/2006/main">
            <a:r>
              <a:t>定位：原文监督路线；不是MuseCritic</a:t>
            </a:r>
          </a:p>
          <a:p xmlns:a="http://schemas.openxmlformats.org/drawingml/2006/main">
            <a:r>
              <a:t>MUSECRITIC: MuseCritic: Learning Multi-Aspect Song Rewards through Natural-Language Aesthetic Critiques</a:t>
            </a:r>
          </a:p>
          <a:p xmlns:a="http://schemas.openxmlformats.org/drawingml/2006/main">
            <a:r>
              <a:t>https://arxiv.org/abs/2608.11755</a:t>
            </a:r>
          </a:p>
          <a:p xmlns:a="http://schemas.openxmlformats.org/drawingml/2006/main">
            <a:r>
              <a:t>定位：§4.1/4.3；Muse-0.6B GRPO；733 pairs来源</a:t>
            </a:r>
          </a:p>
          <a:p xmlns:a="http://schemas.openxmlformats.org/drawingml/2006/main">
            <a:r>
              <a:t>ACE15: ACE-Step 1.5: Pushing the Boundaries of Open-Source Music Generation</a:t>
            </a:r>
          </a:p>
          <a:p xmlns:a="http://schemas.openxmlformats.org/drawingml/2006/main">
            <a:r>
              <a:t>https://arxiv.org/abs/2602.00744</a:t>
            </a:r>
          </a:p>
          <a:p xmlns:a="http://schemas.openxmlformats.org/drawingml/2006/main">
            <a:r>
              <a:t>定位：§2 captioner、§4.2 generator RL、Table1 no RL</a:t>
            </a:r>
          </a:p>
          <a:p xmlns:a="http://schemas.openxmlformats.org/drawingml/2006/main">
            <a:r>
              <a:t>DIFFR2: DiffRhythm 2: Efficient and High Fidelity Song Generation via Block Flow Matching</a:t>
            </a:r>
          </a:p>
          <a:p xmlns:a="http://schemas.openxmlformats.org/drawingml/2006/main">
            <a:r>
              <a:t>https://arxiv.org/abs/2510.22950</a:t>
            </a:r>
          </a:p>
          <a:p xmlns:a="http://schemas.openxmlformats.org/drawingml/2006/main">
            <a:r>
              <a:t>定位：§3.5 CPPO；不是PPO</a:t>
            </a:r>
          </a:p>
          <a:p xmlns:a="http://schemas.openxmlformats.org/drawingml/2006/main">
            <a:r>
              <a:t>SONGBLOOM25: SongBloom: Coherent Song Generation via Interleaved Autoregressive Sketching and Diffusion Refinement</a:t>
            </a:r>
          </a:p>
          <a:p xmlns:a="http://schemas.openxmlformats.org/drawingml/2006/main">
            <a:r>
              <a:t>https://arxiv.org/abs/2506.07634</a:t>
            </a:r>
          </a:p>
          <a:p xmlns:a="http://schemas.openxmlformats.org/drawingml/2006/main">
            <a:r>
              <a:t>定位：2025原版联合AR/flow监督训练</a:t>
            </a:r>
          </a:p>
          <a:p xmlns:a="http://schemas.openxmlformats.org/drawingml/2006/main">
            <a:r>
              <a:t>SONGBLOOM26: Multi-Section Lyric-to-Song Generation With Autoregressive-Diffusion Modeling and Preference Optimization</a:t>
            </a:r>
          </a:p>
          <a:p xmlns:a="http://schemas.openxmlformats.org/drawingml/2006/main">
            <a:r>
              <a:t>https://doi.org/10.1109/TASLPRO.2026.3705684</a:t>
            </a:r>
          </a:p>
          <a:p xmlns:a="http://schemas.openxmlformats.org/drawingml/2006/main">
            <a:r>
              <a:t>定位：2026扩展pretrain→SFT→DPO；完整实现未核验</a:t>
            </a:r>
          </a:p>
          <a:p xmlns:a="http://schemas.openxmlformats.org/drawingml/2006/main">
            <a:r>
              <a:t>MUSICRL: MusicRL: Aligning Music Generation to Human Preferences</a:t>
            </a:r>
          </a:p>
          <a:p xmlns:a="http://schemas.openxmlformats.org/drawingml/2006/main">
            <a:r>
              <a:t>https://proceedings.mlr.press/v235/cideron24a.html</a:t>
            </a:r>
          </a:p>
          <a:p xmlns:a="http://schemas.openxmlformats.org/drawingml/2006/main">
            <a:r>
              <a:t>定位：task→user；KL-REINFORCE+value baseline</a:t>
            </a:r>
          </a:p>
          <a:p xmlns:a="http://schemas.openxmlformats.org/drawingml/2006/main">
            <a:r>
              <a:t>VIBE: VIBE: Video Instruction-aligned Background music gEneration</a:t>
            </a:r>
          </a:p>
          <a:p xmlns:a="http://schemas.openxmlformats.org/drawingml/2006/main">
            <a:r>
              <a:t>https://arxiv.org/abs/2608.30125</a:t>
            </a:r>
          </a:p>
          <a:p xmlns:a="http://schemas.openxmlformats.org/drawingml/2006/main">
            <a:r>
              <a:t>定位：§3 hard/soft，五阶段DiffusionNFT；10s器乐</a:t>
            </a:r>
          </a:p>
          <a:p xmlns:a="http://schemas.openxmlformats.org/drawingml/2006/main">
            <a:r>
              <a:t>FULLSONG: Pushing the Frontier of Full-Song Generation: Hierarchical Autoregressive Planning Meets Flow-Matching Rendering</a:t>
            </a:r>
          </a:p>
          <a:p xmlns:a="http://schemas.openxmlformats.org/drawingml/2006/main">
            <a:r>
              <a:t>https://arxiv.org/abs/2607.20253</a:t>
            </a:r>
          </a:p>
          <a:p xmlns:a="http://schemas.openxmlformats.org/drawingml/2006/main">
            <a:r>
              <a:t>定位：v3 LM DPO / GRPO+RSFT / GRPO+OPD；renderer单列</a:t>
            </a:r>
          </a:p>
          <a:p xmlns:a="http://schemas.openxmlformats.org/drawingml/2006/main">
            <a:r>
              <a:t>WANSONG: WanSong v1.0 Technical Report</a:t>
            </a:r>
          </a:p>
          <a:p xmlns:a="http://schemas.openxmlformats.org/drawingml/2006/main">
            <a:r>
              <a:t>https://arxiv.org/abs/2607.14749</a:t>
            </a:r>
          </a:p>
          <a:p xmlns:a="http://schemas.openxmlformats.org/drawingml/2006/main">
            <a:r>
              <a:t>定位：多维RM、DPO后ReFL</a:t>
            </a:r>
          </a:p>
          <a:p xmlns:a="http://schemas.openxmlformats.org/drawingml/2006/main">
            <a:r>
              <a:t>MRFLOW: MR-FlowDPO: Multi-Reward Direct Preference Optimization for Flow-Matching Text-to-Music Generation</a:t>
            </a:r>
          </a:p>
          <a:p xmlns:a="http://schemas.openxmlformats.org/drawingml/2006/main">
            <a:r>
              <a:t>https://arxiv.org/abs/2512.10264</a:t>
            </a:r>
          </a:p>
          <a:p xmlns:a="http://schemas.openxmlformats.org/drawingml/2006/main">
            <a:r>
              <a:t>定位：多轴强支配pairs；flow preference optimization</a:t>
            </a:r>
          </a:p>
          <a:p xmlns:a="http://schemas.openxmlformats.org/drawingml/2006/main">
            <a:r>
              <a:t>MUSICARENA: Music Arena: Live Evaluation for Text-to-Music</a:t>
            </a:r>
          </a:p>
          <a:p xmlns:a="http://schemas.openxmlformats.org/drawingml/2006/main">
            <a:r>
              <a:t>https://arxiv.org/abs/2507.20900</a:t>
            </a:r>
          </a:p>
          <a:p xmlns:a="http://schemas.openxmlformats.org/drawingml/2006/main">
            <a:r>
              <a:t>定位：music-arena.org；不是Artificial Analysis同名Arena</a:t>
            </a:r>
          </a:p>
          <a:p xmlns:a="http://schemas.openxmlformats.org/drawingml/2006/main">
            <a:r>
              <a:t>ACE-REPO: ACE-Step 1.5 official code</a:t>
            </a:r>
          </a:p>
          <a:p xmlns:a="http://schemas.openxmlformats.org/drawingml/2006/main">
            <a:r>
              <a:t>https://github.com/ace-step/ACE-Step-1.5</a:t>
            </a:r>
          </a:p>
          <a:p xmlns:a="http://schemas.openxmlformats.org/drawingml/2006/main">
            <a:r>
              <a:t>定位：LoRA与release是可用性，不等外部RL recipe</a:t>
            </a:r>
          </a:p>
          <a:p xmlns:a="http://schemas.openxmlformats.org/drawingml/2006/main">
            <a:r>
              <a:t>MUSICARENA-WEB: Music Arena (Kim et al.)</a:t>
            </a:r>
          </a:p>
          <a:p xmlns:a="http://schemas.openxmlformats.org/drawingml/2006/main">
            <a:r>
              <a:t>https://music-arena.org</a:t>
            </a:r>
          </a:p>
          <a:p xmlns:a="http://schemas.openxmlformats.org/drawingml/2006/main">
            <a:r>
              <a:t>定位：与Artificial Analysis不同的Music Arena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内容边界：</a:t>
            </a:r>
          </a:p>
          <a:p xmlns:a="http://schemas.openxmlformats.org/drawingml/2006/main">
            <a:r>
              <a:t>基于2026-10-15已核验资料。未披露不等于没有使用RL。这里只比较公开证据，不从榜单推出算法因果收益。</a:t>
            </a:r>
          </a:p>
          <a:p xmlns:a="http://schemas.openxmlformats.org/drawingml/2006/main">
            <a:r>
              <a:t>suno</a:t>
            </a:r>
          </a:p>
          <a:p xmlns:a="http://schemas.openxmlformats.org/drawingml/2006/main">
            <a:r>
              <a:t>只能说训练未披露，不能说Suno没有RL，也不能因为招聘RL岗位或提到用户反馈就断言音乐生成器用了RL。</a:t>
            </a:r>
          </a:p>
          <a:p xmlns:a="http://schemas.openxmlformats.org/drawingml/2006/main">
            <a:r>
              <a:t>mureka</a:t>
            </a:r>
          </a:p>
          <a:p xmlns:a="http://schemas.openxmlformats.org/drawingml/2006/main">
            <a:r>
              <a:t>家族层面有官方RL声明，当前榜单版本的具体配方仍未知；官方产品概述的证据强度低于技术论文与消融。</a:t>
            </a:r>
          </a:p>
          <a:p xmlns:a="http://schemas.openxmlformats.org/drawingml/2006/main">
            <a:r>
              <a:t>lyria3</a:t>
            </a:r>
          </a:p>
          <a:p xmlns:a="http://schemas.openxmlformats.org/drawingml/2006/main">
            <a:r>
              <a:t>是商业前沿中可明确标注RL的例子；不能据此指定为GRPO/PPO，或证明RL造成其榜单名次。</a:t>
            </a:r>
          </a:p>
          <a:p xmlns:a="http://schemas.openxmlformats.org/drawingml/2006/main">
            <a:r>
              <a:t>lyria2</a:t>
            </a:r>
          </a:p>
          <a:p xmlns:a="http://schemas.openxmlformats.org/drawingml/2006/main">
            <a:r>
              <a:t>版本未知保持未知，不用家族推断填空。</a:t>
            </a:r>
          </a:p>
          <a:p xmlns:a="http://schemas.openxmlformats.org/drawingml/2006/main">
            <a:r>
              <a:t>eleven</a:t>
            </a:r>
          </a:p>
          <a:p xmlns:a="http://schemas.openxmlformats.org/drawingml/2006/main">
            <a:r>
              <a:t>这些是产品/评测证据，不是生成器采用RLHF的训练证据。</a:t>
            </a:r>
          </a:p>
          <a:p xmlns:a="http://schemas.openxmlformats.org/drawingml/2006/main">
            <a:r>
              <a:t>minimax</a:t>
            </a:r>
          </a:p>
          <a:p xmlns:a="http://schemas.openxmlformats.org/drawingml/2006/main">
            <a:r>
              <a:t>有公开发布不代表公开了RL配方；也不能与另一篇FullSong的模型/训练流程混为一谈。</a:t>
            </a:r>
          </a:p>
          <a:p xmlns:a="http://schemas.openxmlformats.org/drawingml/2006/main">
            <a:r>
              <a:t>stable</a:t>
            </a:r>
          </a:p>
          <a:p xmlns:a="http://schemas.openxmlformats.org/drawingml/2006/main">
            <a:r>
              <a:t>adversarial post-training是后训练证据，不足以单独证明使用PPO/GRPO。不能将3的结论覆盖2.5。</a:t>
            </a:r>
          </a:p>
          <a:p xmlns:a="http://schemas.openxmlformats.org/drawingml/2006/main">
            <a:r>
              <a:t>melodia</a:t>
            </a:r>
          </a:p>
          <a:p xmlns:a="http://schemas.openxmlformats.org/drawingml/2006/main">
            <a:r>
              <a:t>品牌/域名变化不是训练方法证据；保留榜单名称，训练记为未披露。</a:t>
            </a:r>
          </a:p>
          <a:p xmlns:a="http://schemas.openxmlformats.org/drawingml/2006/main">
            <a:r>
              <a:t>musicgen</a:t>
            </a:r>
          </a:p>
          <a:p xmlns:a="http://schemas.openxmlformats.org/drawingml/2006/main">
            <a:r>
              <a:t>公开原配方未报告RL；其他系统的RL研究（例如MusicRL基于MusicLM）不能倒写成MusicGen原模型已做RL。</a:t>
            </a:r>
          </a:p>
          <a:p xmlns:a="http://schemas.openxmlformats.org/drawingml/2006/main">
            <a:r>
              <a:t>yue2</a:t>
            </a:r>
          </a:p>
          <a:p xmlns:a="http://schemas.openxmlformats.org/drawingml/2006/main">
            <a:r>
              <a:t>适合称开放权重前沿之一；不宜称无条件可商用的完全开源，也不能把Best-of-K当作RL。</a:t>
            </a:r>
          </a:p>
          <a:p xmlns:a="http://schemas.openxmlformats.org/drawingml/2006/main">
            <a:r>
              <a:t>yue1</a:t>
            </a:r>
          </a:p>
          <a:p xmlns:a="http://schemas.openxmlformats.org/drawingml/2006/main">
            <a:r>
              <a:t>其原始公开配方未报告RL；后来用于其他后训练研究不改变这个版本判断。</a:t>
            </a:r>
          </a:p>
          <a:p xmlns:a="http://schemas.openxmlformats.org/drawingml/2006/main">
            <a:r>
              <a:t>levo2</a:t>
            </a:r>
          </a:p>
          <a:p xmlns:a="http://schemas.openxmlformats.org/drawingml/2006/main">
            <a:r>
              <a:t>最直接支持“先用可控偏好对，再逐步刷新数据”的音乐先例之一，而不是DPO与GRPO谁绝对更强的证据。</a:t>
            </a:r>
          </a:p>
          <a:p xmlns:a="http://schemas.openxmlformats.org/drawingml/2006/main">
            <a:r>
              <a:t>heart</a:t>
            </a:r>
          </a:p>
          <a:p xmlns:a="http://schemas.openxmlformats.org/drawingml/2006/main">
            <a:r>
              <a:t>对分轴偏好数据设计很有参考价值；正式比较前还需对齐具体基座、DPO后权重与采样配置。</a:t>
            </a:r>
          </a:p>
          <a:p xmlns:a="http://schemas.openxmlformats.org/drawingml/2006/main">
            <a:r>
              <a:t>muse</a:t>
            </a:r>
          </a:p>
          <a:p xmlns:a="http://schemas.openxmlformats.org/drawingml/2006/main">
            <a:r>
              <a:t>是开放歌曲模型接入学习型奖励的直接例子；九项自动指标的收益不是九项人类MOS都提高，更不是节拍协同已获证明。</a:t>
            </a:r>
          </a:p>
          <a:p xmlns:a="http://schemas.openxmlformats.org/drawingml/2006/main">
            <a:r>
              <a:t>ace</a:t>
            </a:r>
          </a:p>
          <a:p xmlns:a="http://schemas.openxmlformats.org/drawingml/2006/main">
            <a:r>
              <a:t>必须同时标注“有RL研究”与“主对比配置不是RL”；WSB中的ACE也不能凭名称就认作RL版。</a:t>
            </a:r>
          </a:p>
          <a:p xmlns:a="http://schemas.openxmlformats.org/drawingml/2006/main">
            <a:r>
              <a:t>diffr2</a:t>
            </a:r>
          </a:p>
          <a:p xmlns:a="http://schemas.openxmlformats.org/drawingml/2006/main">
            <a:r>
              <a:t>流模型有偏好后训练先例，但CPPO与PPO/GRPO不是同一个训练方法。</a:t>
            </a:r>
          </a:p>
          <a:p xmlns:a="http://schemas.openxmlformats.org/drawingml/2006/main">
            <a:r>
              <a:t>songbloom</a:t>
            </a:r>
          </a:p>
          <a:p xmlns:a="http://schemas.openxmlformats.org/drawingml/2006/main">
            <a:r>
              <a:t>一行中保留版本分歧，不用旧论文否定新DPO，也不用新论文覆盖旧checkpoint。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开放前沿模型可用RL/偏好后训练改善什么？哪些已有证据，哪些仅值得讨论？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L和偏好训练能做的，不只是把总体好听分加一点。它们可以针对漏词、指令、情绪、段落发展、音质和用户偏好做定向修正。但要把已有先例和我们的提案分开。歌词与提示遵循已有音乐工作；歌声和伴奏合拍，是我们最有价值、但还不能冒称已验证的方向。做法上，先判断候选之间是否真的更好，再决定偏好对训练还是在线奖励训练。最后必须保住覆盖度和整体音质，否则beat分数变高也可能是删掉了难的伴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座决定能改哪里。自回归token模型更容易讨论DPO/GRPO，但要有正确的条件概率与生成区域mask。连续flow模型要使用匹配的偏好损失、Flow-GRPO接口或DiffusionNFT，不能直接把AR代码搬过去。混合系统可先更新语义规划层，固定渲染器观察实际音频；音质问题也可能必须更新渲染层。高级能力还受输入接口限制：模型本身没有编辑mask、参考音频或视频条件，仅加奖励不能保证生成这些功能。对当前项目，节拍奖励的价值要用同条件、当前模型的候选验证，并加上覆盖度与音质保底。DPO适合先做高可信好坏对，在线RL则可以之后继续；它们是可接续路线，不是简单二选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音乐已有＝相关目标有直接音乐后训练先例，不等于所有开放模型均支持。音乐相关先例＝系统有相关能力与后训练，但未单独归因该项收益。</a:t>
            </a:r>
          </a:p>
          <a:p xmlns:a="http://schemas.openxmlformats.org/drawingml/2006/main">
            <a:r>
              <a:t>邻域已有＝CV/TTS/SVS等有先例；完整歌曲迁移仍待验证。项目提案＝本轮只讨论，没有新实验结果。</a:t>
            </a:r>
          </a:p>
          <a:p xmlns:a="http://schemas.openxmlformats.org/drawingml/2006/main">
            <a:r>
              <a:t>DPO需好坏对与可训练似然/代理损失；在线RL需匹配的采样与更新接口；LoRA本身不解决奖励错误。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逐行来源：</a:t>
            </a:r>
          </a:p>
          <a:p xmlns:a="http://schemas.openxmlformats.org/drawingml/2006/main">
            <a:r>
              <a:t>lyrics: LEVO2, HEART, FULLSONG, HALL</a:t>
            </a:r>
          </a:p>
          <a:p xmlns:a="http://schemas.openxmlformats.org/drawingml/2006/main">
            <a:r>
              <a:t>beat: YING25, YING26, RRPO</a:t>
            </a:r>
          </a:p>
          <a:p xmlns:a="http://schemas.openxmlformats.org/drawingml/2006/main">
            <a:r>
              <a:t>instructions: HEART, MRFLOW, VIBE, CMI</a:t>
            </a:r>
          </a:p>
          <a:p xmlns:a="http://schemas.openxmlformats.org/drawingml/2006/main">
            <a:r>
              <a:t>emotion: EMODPO, RRPO, EMOTION</a:t>
            </a:r>
          </a:p>
          <a:p xmlns:a="http://schemas.openxmlformats.org/drawingml/2006/main">
            <a:r>
              <a:t>structure: LEVO2, FULLSONG, SONGBLOOM26</a:t>
            </a:r>
          </a:p>
          <a:p xmlns:a="http://schemas.openxmlformats.org/drawingml/2006/main">
            <a:r>
              <a:t>quality: MUSICRL, MUSECRITIC, WANSONG, SEGSPO</a:t>
            </a:r>
          </a:p>
          <a:p xmlns:a="http://schemas.openxmlformats.org/drawingml/2006/main">
            <a:r>
              <a:t>arrangement: SONGEVAL, CMI, MUSECRITIC</a:t>
            </a:r>
          </a:p>
          <a:p xmlns:a="http://schemas.openxmlformats.org/drawingml/2006/main">
            <a:r>
              <a:t>editing: YING26, YING-REPO, YUE2-CARD</a:t>
            </a:r>
          </a:p>
          <a:p xmlns:a="http://schemas.openxmlformats.org/drawingml/2006/main">
            <a:r>
              <a:t>personalization: MUSICRL</a:t>
            </a:r>
          </a:p>
          <a:p xmlns:a="http://schemas.openxmlformats.org/drawingml/2006/main">
            <a:r>
              <a:t>video: VIBE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文献与官方资料：</a:t>
            </a:r>
          </a:p>
          <a:p xmlns:a="http://schemas.openxmlformats.org/drawingml/2006/main">
            <a:r>
              <a:t>WSB: WildSongBench: results and evaluation scope</a:t>
            </a:r>
          </a:p>
          <a:p xmlns:a="http://schemas.openxmlformats.org/drawingml/2006/main">
            <a:r>
              <a:t>https://huggingface.co/datasets/m-a-p/WildSongBench/blob/e361b85a8d7365d3079fa9647641a87ce3c8c5b5/benchmark/results.md</a:t>
            </a:r>
          </a:p>
          <a:p xmlns:a="http://schemas.openxmlformats.org/drawingml/2006/main">
            <a:r>
              <a:t>定位：17设置、192条件、筛选及decoder</a:t>
            </a:r>
          </a:p>
          <a:p xmlns:a="http://schemas.openxmlformats.org/drawingml/2006/main">
            <a:r>
              <a:t>MINIMAX3: MiniMax Music 3</a:t>
            </a:r>
          </a:p>
          <a:p xmlns:a="http://schemas.openxmlformats.org/drawingml/2006/main">
            <a:r>
              <a:t>https://github.com/MiniMax-AI/MiniMax-Music3</a:t>
            </a:r>
          </a:p>
          <a:p xmlns:a="http://schemas.openxmlformats.org/drawingml/2006/main">
            <a:r>
              <a:t>定位：Hybrid-LM、hidden-state FM、release；未给RL配方</a:t>
            </a:r>
          </a:p>
          <a:p xmlns:a="http://schemas.openxmlformats.org/drawingml/2006/main">
            <a:r>
              <a:t>YUE2: YuE2: Unifying Symbolic and Audio Music Generation at Frontier Quality</a:t>
            </a:r>
          </a:p>
          <a:p xmlns:a="http://schemas.openxmlformats.org/drawingml/2006/main">
            <a:r>
              <a:t>https://arxiv.org/abs/2609.33757</a:t>
            </a:r>
          </a:p>
          <a:p xmlns:a="http://schemas.openxmlformats.org/drawingml/2006/main">
            <a:r>
              <a:t>定位：监督建模、符号规划、WSB、候选预算</a:t>
            </a:r>
          </a:p>
          <a:p xmlns:a="http://schemas.openxmlformats.org/drawingml/2006/main">
            <a:r>
              <a:t>YUE2-CARD: YuE2-3B official model card</a:t>
            </a:r>
          </a:p>
          <a:p xmlns:a="http://schemas.openxmlformats.org/drawingml/2006/main">
            <a:r>
              <a:t>https://huggingface.co/m-a-p/YuE2-3B</a:t>
            </a:r>
          </a:p>
          <a:p xmlns:a="http://schemas.openxmlformats.org/drawingml/2006/main">
            <a:r>
              <a:t>定位：planning / editing / license / evaluation decoder</a:t>
            </a:r>
          </a:p>
          <a:p xmlns:a="http://schemas.openxmlformats.org/drawingml/2006/main">
            <a:r>
              <a:t>YUE1: YuE: Scaling Open Foundation Models for Long-Form Music Generation</a:t>
            </a:r>
          </a:p>
          <a:p xmlns:a="http://schemas.openxmlformats.org/drawingml/2006/main">
            <a:r>
              <a:t>https://arxiv.org/abs/2503.08638</a:t>
            </a:r>
          </a:p>
          <a:p xmlns:a="http://schemas.openxmlformats.org/drawingml/2006/main">
            <a:r>
              <a:t>定位：多阶段next-token训练</a:t>
            </a:r>
          </a:p>
          <a:p xmlns:a="http://schemas.openxmlformats.org/drawingml/2006/main">
            <a:r>
              <a:t>LEVO2: LeVo 2: Stable and Melodious Song Generation via Hierarchical Representation Modeling and Progressive Post-Training</a:t>
            </a:r>
          </a:p>
          <a:p xmlns:a="http://schemas.openxmlformats.org/drawingml/2006/main">
            <a:r>
              <a:t>https://arxiv.org/abs/2606.30642</a:t>
            </a:r>
          </a:p>
          <a:p xmlns:a="http://schemas.openxmlformats.org/drawingml/2006/main">
            <a:r>
              <a:t>定位：§III-E；offline / semi-online DPO</a:t>
            </a:r>
          </a:p>
          <a:p xmlns:a="http://schemas.openxmlformats.org/drawingml/2006/main">
            <a:r>
              <a:t>HEART: HeartMuLa: A Family of Open Sourced Music Foundation Models</a:t>
            </a:r>
          </a:p>
          <a:p xmlns:a="http://schemas.openxmlformats.org/drawingml/2006/main">
            <a:r>
              <a:t>https://arxiv.org/abs/2601.10547</a:t>
            </a:r>
          </a:p>
          <a:p xmlns:a="http://schemas.openxmlformats.org/drawingml/2006/main">
            <a:r>
              <a:t>定位：§3.3 Stage4 DPO；Tables14–16</a:t>
            </a:r>
          </a:p>
          <a:p xmlns:a="http://schemas.openxmlformats.org/drawingml/2006/main">
            <a:r>
              <a:t>MUSE: Muse: Towards Reproducible Long-Form Song Generation with Fine-Grained Style Control</a:t>
            </a:r>
          </a:p>
          <a:p xmlns:a="http://schemas.openxmlformats.org/drawingml/2006/main">
            <a:r>
              <a:t>https://arxiv.org/abs/2601.03973</a:t>
            </a:r>
          </a:p>
          <a:p xmlns:a="http://schemas.openxmlformats.org/drawingml/2006/main">
            <a:r>
              <a:t>定位：原文监督路线；不是MuseCritic</a:t>
            </a:r>
          </a:p>
          <a:p xmlns:a="http://schemas.openxmlformats.org/drawingml/2006/main">
            <a:r>
              <a:t>MUSECRITIC: MuseCritic: Learning Multi-Aspect Song Rewards through Natural-Language Aesthetic Critiques</a:t>
            </a:r>
          </a:p>
          <a:p xmlns:a="http://schemas.openxmlformats.org/drawingml/2006/main">
            <a:r>
              <a:t>https://arxiv.org/abs/2608.11755</a:t>
            </a:r>
          </a:p>
          <a:p xmlns:a="http://schemas.openxmlformats.org/drawingml/2006/main">
            <a:r>
              <a:t>定位：§4.1/4.3；Muse-0.6B GRPO；733 pairs来源</a:t>
            </a:r>
          </a:p>
          <a:p xmlns:a="http://schemas.openxmlformats.org/drawingml/2006/main">
            <a:r>
              <a:t>ACE15: ACE-Step 1.5: Pushing the Boundaries of Open-Source Music Generation</a:t>
            </a:r>
          </a:p>
          <a:p xmlns:a="http://schemas.openxmlformats.org/drawingml/2006/main">
            <a:r>
              <a:t>https://arxiv.org/abs/2602.00744</a:t>
            </a:r>
          </a:p>
          <a:p xmlns:a="http://schemas.openxmlformats.org/drawingml/2006/main">
            <a:r>
              <a:t>定位：§2 captioner、§4.2 generator RL、Table1 no RL</a:t>
            </a:r>
          </a:p>
          <a:p xmlns:a="http://schemas.openxmlformats.org/drawingml/2006/main">
            <a:r>
              <a:t>DIFFR2: DiffRhythm 2: Efficient and High Fidelity Song Generation via Block Flow Matching</a:t>
            </a:r>
          </a:p>
          <a:p xmlns:a="http://schemas.openxmlformats.org/drawingml/2006/main">
            <a:r>
              <a:t>https://arxiv.org/abs/2510.22950</a:t>
            </a:r>
          </a:p>
          <a:p xmlns:a="http://schemas.openxmlformats.org/drawingml/2006/main">
            <a:r>
              <a:t>定位：§3.5 CPPO；不是PPO</a:t>
            </a:r>
          </a:p>
          <a:p xmlns:a="http://schemas.openxmlformats.org/drawingml/2006/main">
            <a:r>
              <a:t>SONGBLOOM25: SongBloom: Coherent Song Generation via Interleaved Autoregressive Sketching and Diffusion Refinement</a:t>
            </a:r>
          </a:p>
          <a:p xmlns:a="http://schemas.openxmlformats.org/drawingml/2006/main">
            <a:r>
              <a:t>https://arxiv.org/abs/2506.07634</a:t>
            </a:r>
          </a:p>
          <a:p xmlns:a="http://schemas.openxmlformats.org/drawingml/2006/main">
            <a:r>
              <a:t>定位：2025原版联合AR/flow监督训练</a:t>
            </a:r>
          </a:p>
          <a:p xmlns:a="http://schemas.openxmlformats.org/drawingml/2006/main">
            <a:r>
              <a:t>SONGBLOOM26: Multi-Section Lyric-to-Song Generation With Autoregressive-Diffusion Modeling and Preference Optimization</a:t>
            </a:r>
          </a:p>
          <a:p xmlns:a="http://schemas.openxmlformats.org/drawingml/2006/main">
            <a:r>
              <a:t>https://doi.org/10.1109/TASLPRO.2026.3705684</a:t>
            </a:r>
          </a:p>
          <a:p xmlns:a="http://schemas.openxmlformats.org/drawingml/2006/main">
            <a:r>
              <a:t>定位：2026扩展pretrain→SFT→DPO；完整实现未核验</a:t>
            </a:r>
          </a:p>
          <a:p xmlns:a="http://schemas.openxmlformats.org/drawingml/2006/main">
            <a:r>
              <a:t>MUSICRL: MusicRL: Aligning Music Generation to Human Preferences</a:t>
            </a:r>
          </a:p>
          <a:p xmlns:a="http://schemas.openxmlformats.org/drawingml/2006/main">
            <a:r>
              <a:t>https://proceedings.mlr.press/v235/cideron24a.html</a:t>
            </a:r>
          </a:p>
          <a:p xmlns:a="http://schemas.openxmlformats.org/drawingml/2006/main">
            <a:r>
              <a:t>定位：task→user；KL-REINFORCE+value baseline</a:t>
            </a:r>
          </a:p>
          <a:p xmlns:a="http://schemas.openxmlformats.org/drawingml/2006/main">
            <a:r>
              <a:t>VIBE: VIBE: Video Instruction-aligned Background music gEneration</a:t>
            </a:r>
          </a:p>
          <a:p xmlns:a="http://schemas.openxmlformats.org/drawingml/2006/main">
            <a:r>
              <a:t>https://arxiv.org/abs/2608.30125</a:t>
            </a:r>
          </a:p>
          <a:p xmlns:a="http://schemas.openxmlformats.org/drawingml/2006/main">
            <a:r>
              <a:t>定位：§3 hard/soft，五阶段DiffusionNFT；10s器乐</a:t>
            </a:r>
          </a:p>
          <a:p xmlns:a="http://schemas.openxmlformats.org/drawingml/2006/main">
            <a:r>
              <a:t>FULLSONG: Pushing the Frontier of Full-Song Generation: Hierarchical Autoregressive Planning Meets Flow-Matching Rendering</a:t>
            </a:r>
          </a:p>
          <a:p xmlns:a="http://schemas.openxmlformats.org/drawingml/2006/main">
            <a:r>
              <a:t>https://arxiv.org/abs/2607.20253</a:t>
            </a:r>
          </a:p>
          <a:p xmlns:a="http://schemas.openxmlformats.org/drawingml/2006/main">
            <a:r>
              <a:t>定位：v3 LM DPO / GRPO+RSFT / GRPO+OPD；renderer单列</a:t>
            </a:r>
          </a:p>
          <a:p xmlns:a="http://schemas.openxmlformats.org/drawingml/2006/main">
            <a:r>
              <a:t>WANSONG: WanSong v1.0 Technical Report</a:t>
            </a:r>
          </a:p>
          <a:p xmlns:a="http://schemas.openxmlformats.org/drawingml/2006/main">
            <a:r>
              <a:t>https://arxiv.org/abs/2607.14749</a:t>
            </a:r>
          </a:p>
          <a:p xmlns:a="http://schemas.openxmlformats.org/drawingml/2006/main">
            <a:r>
              <a:t>定位：多维RM、DPO后ReFL</a:t>
            </a:r>
          </a:p>
          <a:p xmlns:a="http://schemas.openxmlformats.org/drawingml/2006/main">
            <a:r>
              <a:t>MRFLOW: MR-FlowDPO: Multi-Reward Direct Preference Optimization for Flow-Matching Text-to-Music Generation</a:t>
            </a:r>
          </a:p>
          <a:p xmlns:a="http://schemas.openxmlformats.org/drawingml/2006/main">
            <a:r>
              <a:t>https://arxiv.org/abs/2512.10264</a:t>
            </a:r>
          </a:p>
          <a:p xmlns:a="http://schemas.openxmlformats.org/drawingml/2006/main">
            <a:r>
              <a:t>定位：多轴强支配pairs；flow preference optimization</a:t>
            </a:r>
          </a:p>
          <a:p xmlns:a="http://schemas.openxmlformats.org/drawingml/2006/main">
            <a:r>
              <a:t>FLOWGRPO: Flow-GRPO: Training Flow Matching Models via Online RL</a:t>
            </a:r>
          </a:p>
          <a:p xmlns:a="http://schemas.openxmlformats.org/drawingml/2006/main">
            <a:r>
              <a:t>https://arxiv.org/abs/2505.05470</a:t>
            </a:r>
          </a:p>
          <a:p xmlns:a="http://schemas.openxmlformats.org/drawingml/2006/main">
            <a:r>
              <a:t>定位：v5 SDE接口；rule和learned reward分开</a:t>
            </a:r>
          </a:p>
          <a:p xmlns:a="http://schemas.openxmlformats.org/drawingml/2006/main">
            <a:r>
              <a:t>NFT: DiffusionNFT: Online Diffusion Reinforcement with Forward Process</a:t>
            </a:r>
          </a:p>
          <a:p xmlns:a="http://schemas.openxmlformats.org/drawingml/2006/main">
            <a:r>
              <a:t>https://arxiv.org/abs/2509.16117</a:t>
            </a:r>
          </a:p>
          <a:p xmlns:a="http://schemas.openxmlformats.org/drawingml/2006/main">
            <a:r>
              <a:t>定位：v2 clean sample打分、前向加噪正负训练</a:t>
            </a:r>
          </a:p>
          <a:p xmlns:a="http://schemas.openxmlformats.org/drawingml/2006/main">
            <a:r>
              <a:t>EMODPO: Emo-DPO: Controllable Emotional Speech Synthesis through Direct Preference Optimization</a:t>
            </a:r>
          </a:p>
          <a:p xmlns:a="http://schemas.openxmlformats.org/drawingml/2006/main">
            <a:r>
              <a:t>https://arxiv.org/abs/2409.10157</a:t>
            </a:r>
          </a:p>
          <a:p xmlns:a="http://schemas.openxmlformats.org/drawingml/2006/main">
            <a:r>
              <a:t>定位：情绪TTS指令SFT+DPO与人评</a:t>
            </a:r>
          </a:p>
          <a:p xmlns:a="http://schemas.openxmlformats.org/drawingml/2006/main">
            <a:r>
              <a:t>RRPO: RRPO: Robust Reward Policy Optimization for LLM-based Emotional TTS</a:t>
            </a:r>
          </a:p>
          <a:p xmlns:a="http://schemas.openxmlformats.org/drawingml/2006/main">
            <a:r>
              <a:t>https://arxiv.org/abs/2512.04552</a:t>
            </a:r>
          </a:p>
          <a:p xmlns:a="http://schemas.openxmlformats.org/drawingml/2006/main">
            <a:r>
              <a:t>定位：v3 §2.2正则施于RM；SER reward hacking</a:t>
            </a:r>
          </a:p>
          <a:p xmlns:a="http://schemas.openxmlformats.org/drawingml/2006/main">
            <a:r>
              <a:t>YING25: YingMusic-Singer: Zero-shot Singing Voice Synthesis and Editing with Annotation-free Melody Guidance</a:t>
            </a:r>
          </a:p>
          <a:p xmlns:a="http://schemas.openxmlformats.org/drawingml/2006/main">
            <a:r>
              <a:t>https://arxiv.org/abs/2512.04779</a:t>
            </a:r>
          </a:p>
          <a:p xmlns:a="http://schemas.openxmlformats.org/drawingml/2006/main">
            <a:r>
              <a:t>定位：v1 §3.3 Flow-GRPO、1-WER+F0 corr</a:t>
            </a:r>
          </a:p>
          <a:p xmlns:a="http://schemas.openxmlformats.org/drawingml/2006/main">
            <a:r>
              <a:t>YING26: YingMusic-Singer: Controllable Singing Voice Synthesis with Flexible Lyric Manipulation and Annotation-free Melody Guidance</a:t>
            </a:r>
          </a:p>
          <a:p xmlns:a="http://schemas.openxmlformats.org/drawingml/2006/main">
            <a:r>
              <a:t>https://arxiv.org/abs/2603.24589</a:t>
            </a:r>
          </a:p>
          <a:p xmlns:a="http://schemas.openxmlformats.org/drawingml/2006/main">
            <a:r>
              <a:t>定位：v3 §2.3、Table4；repo名仍Plus</a:t>
            </a:r>
          </a:p>
          <a:p xmlns:a="http://schemas.openxmlformats.org/drawingml/2006/main">
            <a:r>
              <a:t>SEGSPO: Post-Training Speech Enhancement Language Models with Perceptual Rewards</a:t>
            </a:r>
          </a:p>
          <a:p xmlns:a="http://schemas.openxmlformats.org/drawingml/2006/main">
            <a:r>
              <a:t>https://arxiv.org/abs/2606.21458</a:t>
            </a:r>
          </a:p>
          <a:p xmlns:a="http://schemas.openxmlformats.org/drawingml/2006/main">
            <a:r>
              <a:t>定位：GSPO，DNSMOS+(1-WER)+UTMOS；人评消融</a:t>
            </a:r>
          </a:p>
          <a:p xmlns:a="http://schemas.openxmlformats.org/drawingml/2006/main">
            <a:r>
              <a:t>CMI: CMI-RewardBench: Evaluating Music Reward Models with Compositional Multimodal Instruction</a:t>
            </a:r>
          </a:p>
          <a:p xmlns:a="http://schemas.openxmlformats.org/drawingml/2006/main">
            <a:r>
              <a:t>https://arxiv.org/abs/2603.00610</a:t>
            </a:r>
          </a:p>
          <a:p xmlns:a="http://schemas.openxmlformats.org/drawingml/2006/main">
            <a:r>
              <a:t>定位：reward qualification；CMI-Pref / CMI-RM不同对象</a:t>
            </a:r>
          </a:p>
          <a:p xmlns:a="http://schemas.openxmlformats.org/drawingml/2006/main">
            <a:r>
              <a:t>SONGEVAL: SongEval: A Benchmark Dataset for Song Aesthetics Evaluation</a:t>
            </a:r>
          </a:p>
          <a:p xmlns:a="http://schemas.openxmlformats.org/drawingml/2006/main">
            <a:r>
              <a:t>https://arxiv.org/abs/2505.10793</a:t>
            </a:r>
          </a:p>
          <a:p xmlns:a="http://schemas.openxmlformats.org/drawingml/2006/main">
            <a:r>
              <a:t>定位：五维专家评分，不是beat gold</a:t>
            </a:r>
          </a:p>
          <a:p xmlns:a="http://schemas.openxmlformats.org/drawingml/2006/main">
            <a:r>
              <a:t>EMOTION: Emotion-Director: Bridging Affective Shortcut in Emotion-Oriented Image Generation</a:t>
            </a:r>
          </a:p>
          <a:p xmlns:a="http://schemas.openxmlformats.org/drawingml/2006/main">
            <a:r>
              <a:t>https://arxiv.org/abs/2512.19479</a:t>
            </a:r>
          </a:p>
          <a:p xmlns:a="http://schemas.openxmlformats.org/drawingml/2006/main">
            <a:r>
              <a:t>定位：同语义情绪表达，避免类别捷径</a:t>
            </a:r>
          </a:p>
          <a:p xmlns:a="http://schemas.openxmlformats.org/drawingml/2006/main">
            <a:r>
              <a:t>HALL: Towards Hallucination-Free Music: A Reinforcement Learning Preference Optimization Framework for Reliable Song Generation</a:t>
            </a:r>
          </a:p>
          <a:p xmlns:a="http://schemas.openxmlformats.org/drawingml/2006/main">
            <a:r>
              <a:t>https://arxiv.org/abs/2508.05011</a:t>
            </a:r>
          </a:p>
          <a:p xmlns:a="http://schemas.openxmlformats.org/drawingml/2006/main">
            <a:r>
              <a:t>定位：PER proxy，摘要与Table1不一致</a:t>
            </a:r>
          </a:p>
          <a:p xmlns:a="http://schemas.openxmlformats.org/drawingml/2006/main">
            <a:r>
              <a:t>ACE-REPO: ACE-Step 1.5 official code</a:t>
            </a:r>
          </a:p>
          <a:p xmlns:a="http://schemas.openxmlformats.org/drawingml/2006/main">
            <a:r>
              <a:t>https://github.com/ace-step/ACE-Step-1.5</a:t>
            </a:r>
          </a:p>
          <a:p xmlns:a="http://schemas.openxmlformats.org/drawingml/2006/main">
            <a:r>
              <a:t>定位：LoRA与release是可用性，不等外部RL recipe</a:t>
            </a:r>
          </a:p>
          <a:p xmlns:a="http://schemas.openxmlformats.org/drawingml/2006/main">
            <a:r>
              <a:t>YING-REPO: YingMusic-Singer-Plus official release</a:t>
            </a:r>
          </a:p>
          <a:p xmlns:a="http://schemas.openxmlformats.org/drawingml/2006/main">
            <a:r>
              <a:t>https://github.com/ASLP-lab/YingMusic-Singer-Plus</a:t>
            </a:r>
          </a:p>
          <a:p xmlns:a="http://schemas.openxmlformats.org/drawingml/2006/main">
            <a:r>
              <a:t>定位：名称与v3 paper不同；727.3M组件、输入vocal stems</a:t>
            </a:r>
          </a:p>
          <a:p xmlns:a="http://schemas.openxmlformats.org/drawingml/2006/main">
            <a:r>
              <a:t>YING-DEMO: YingMusic-Singer-Plus interactive demo</a:t>
            </a:r>
          </a:p>
          <a:p xmlns:a="http://schemas.openxmlformats.org/drawingml/2006/main">
            <a:r>
              <a:t>https://huggingface.co/spaces/ASLP-lab/YingMusic-Singer-Plus</a:t>
            </a:r>
          </a:p>
          <a:p xmlns:a="http://schemas.openxmlformats.org/drawingml/2006/main">
            <a:r>
              <a:t>定位：推理界面；不是RL训练器</a:t>
            </a:r>
          </a:p>
          <a:p xmlns:a="http://schemas.openxmlformats.org/drawingml/2006/main">
            <a:r>
              <a:t>FLOW-REPO: Flow-GRPO official code</a:t>
            </a:r>
          </a:p>
          <a:p xmlns:a="http://schemas.openxmlformats.org/drawingml/2006/main">
            <a:r>
              <a:t>https://github.com/yifan123/flow_grpo</a:t>
            </a:r>
          </a:p>
          <a:p xmlns:a="http://schemas.openxmlformats.org/drawingml/2006/main">
            <a:r>
              <a:t>定位：Flow-GRPO；同repo相关项目不等于同一论文</a:t>
            </a:r>
          </a:p>
          <a:p xmlns:a="http://schemas.openxmlformats.org/drawingml/2006/main">
            <a:r>
              <a:t>GUARD: GRPO-Guard: Mitigating Implicit Over-Optimization in Flow Matching via Regulated Clipping</a:t>
            </a:r>
          </a:p>
          <a:p xmlns:a="http://schemas.openxmlformats.org/drawingml/2006/main">
            <a:r>
              <a:t>https://jingw193.github.io/GRPO-Guard/</a:t>
            </a:r>
          </a:p>
          <a:p xmlns:a="http://schemas.openxmlformats.org/drawingml/2006/main">
            <a:r>
              <a:t>定位：importance-ratio偏移、归一化和梯度重加权；CV机制不直接套用AR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内容边界：</a:t>
            </a:r>
          </a:p>
          <a:p xmlns:a="http://schemas.openxmlformats.org/drawingml/2006/main">
            <a:r>
              <a:t>基于2026-10-15已核验资料。未披露不等于没有使用RL。这里只比较公开证据，不从榜单推出算法因果收益。</a:t>
            </a:r>
          </a:p>
          <a:p xmlns:a="http://schemas.openxmlformats.org/drawingml/2006/main">
            <a:r>
              <a:t>lyrics</a:t>
            </a:r>
          </a:p>
          <a:p xmlns:a="http://schemas.openxmlformats.org/drawingml/2006/main">
            <a:r>
              <a:t>减少漏词、重复、提前结束，同时保留唱法与音乐质量。</a:t>
            </a:r>
          </a:p>
          <a:p xmlns:a="http://schemas.openxmlformats.org/drawingml/2006/main">
            <a:r>
              <a:t>固定歌词和提示，对同一基座生成的候选比较歌词错误；只有在音质、覆盖度等没有明显倒退时才构成高可信偏好。</a:t>
            </a:r>
          </a:p>
          <a:p xmlns:a="http://schemas.openxmlformats.org/drawingml/2006/main">
            <a:r>
              <a:t>公开歌曲模型已有歌词/可控性偏好后训练先例；TTS/SVS的内容保真可提供额外参照。</a:t>
            </a:r>
          </a:p>
          <a:p xmlns:a="http://schemas.openxmlformats.org/drawingml/2006/main">
            <a:r>
              <a:t>ASR特别容易误判拖腔、和声、混语、伴唱。自动错误率下降不等于音乐更好；不复述Hallucination-Free文章摘要中的7.4%为已统一核实的结论，因为摘要与表格口径存在差异。</a:t>
            </a:r>
          </a:p>
          <a:p xmlns:a="http://schemas.openxmlformats.org/drawingml/2006/main">
            <a:r>
              <a:t>高：成熟先例，但本轮不开展实验。</a:t>
            </a:r>
          </a:p>
          <a:p xmlns:a="http://schemas.openxmlformats.org/drawingml/2006/main">
            <a:r>
              <a:t>beat</a:t>
            </a:r>
          </a:p>
          <a:p xmlns:a="http://schemas.openxmlformats.org/drawingml/2006/main">
            <a:r>
              <a:t>改善歌声与伴奏在拍位和时序上的协同，而不牺牲伴奏覆盖度。</a:t>
            </a:r>
          </a:p>
          <a:p xmlns:a="http://schemas.openxmlformats.org/drawingml/2006/main">
            <a:r>
              <a:t>把节拍分数与该样本上分数是否可信分开；可对不可靠的人声节拍、无节拍段、半拍/倍拍歧义拒判。先讨论同条件偏好是否成立，再讨论如何更新模型。</a:t>
            </a:r>
          </a:p>
          <a:p xmlns:a="http://schemas.openxmlformats.org/drawingml/2006/main">
            <a:r>
              <a:t>YingMusic-Singer说明内容与旋律约束可进入在线奖励；它不直接验证我们的vocal-accompaniment beat reward。</a:t>
            </a:r>
          </a:p>
          <a:p xmlns:a="http://schemas.openxmlformats.org/drawingml/2006/main">
            <a:r>
              <a:t>同BPM仍可能错拍；强鼓点、重复节奏、删掉难段或减少伴奏都可能提高代理分数。分离器/节拍器失败可能让所谓confidence虚高，模型间一致也不是正确性。</a:t>
            </a:r>
          </a:p>
          <a:p xmlns:a="http://schemas.openxmlformats.org/drawingml/2006/main">
            <a:r>
              <a:t>高：最贴近项目痛点；效果仍为待验证提案，不能当成已发表或已复现实绩。</a:t>
            </a:r>
          </a:p>
          <a:p xmlns:a="http://schemas.openxmlformats.org/drawingml/2006/main">
            <a:r>
              <a:t>instructions</a:t>
            </a:r>
          </a:p>
          <a:p xmlns:a="http://schemas.openxmlformats.org/drawingml/2006/main">
            <a:r>
              <a:t>同时遵循风格、乐器、速度、时长、正向/负向要求。</a:t>
            </a:r>
          </a:p>
          <a:p xmlns:a="http://schemas.openxmlformats.org/drawingml/2006/main">
            <a:r>
              <a:t>将明确可检查约束与学习型语义评委分开；针对同一条件检查多个维度是否同向变好，而非仅看CLAP/MuQ-MuLan单分。</a:t>
            </a:r>
          </a:p>
          <a:p xmlns:a="http://schemas.openxmlformats.org/drawingml/2006/main">
            <a:r>
              <a:t>HeartMuLa分轴偏好，MR-FlowDPO多轴强支配筛选，VIBE混合硬/软反馈都可参考。</a:t>
            </a:r>
          </a:p>
          <a:p xmlns:a="http://schemas.openxmlformats.org/drawingml/2006/main">
            <a:r>
              <a:t>MuQ-MuLan/CLAP相似度主要反映跨模态匹配，不是直接的音质或节拍真值；“没有鼓”属于存在性判断，仍受检测器漏检影响。</a:t>
            </a:r>
          </a:p>
          <a:p xmlns:a="http://schemas.openxmlformats.org/drawingml/2006/main">
            <a:r>
              <a:t>高：适合做可解释的多目标后训练。</a:t>
            </a:r>
          </a:p>
          <a:p xmlns:a="http://schemas.openxmlformats.org/drawingml/2006/main">
            <a:r>
              <a:t>emotion</a:t>
            </a:r>
          </a:p>
          <a:p xmlns:a="http://schemas.openxmlformats.org/drawingml/2006/main">
            <a:r>
              <a:t>在内容与风格接近的条件下，更准确表达指定情绪。</a:t>
            </a:r>
          </a:p>
          <a:p xmlns:a="http://schemas.openxmlformats.org/drawingml/2006/main">
            <a:r>
              <a:t>用固定歌词/场景的候选偏好构对；评价情绪与自然度、内容保真分离。</a:t>
            </a:r>
          </a:p>
          <a:p xmlns:a="http://schemas.openxmlformats.org/drawingml/2006/main">
            <a:r>
              <a:t>Emo-DPO直接做情绪TTS；RRPO展示情绪奖励会被噪声投机；Emotion-Director提示要排除语义类别捷径。</a:t>
            </a:r>
          </a:p>
          <a:p xmlns:a="http://schemas.openxmlformats.org/drawingml/2006/main">
            <a:r>
              <a:t>语音和图像结果只是邻域证据，歌曲情绪表达仍需独立音乐人评。</a:t>
            </a:r>
          </a:p>
          <a:p xmlns:a="http://schemas.openxmlformats.org/drawingml/2006/main">
            <a:r>
              <a:t>中：奖励标注与捷径排查的成本高于歌词正确性。</a:t>
            </a:r>
          </a:p>
          <a:p xmlns:a="http://schemas.openxmlformats.org/drawingml/2006/main">
            <a:r>
              <a:t>structure</a:t>
            </a:r>
          </a:p>
          <a:p xmlns:a="http://schemas.openxmlformats.org/drawingml/2006/main">
            <a:r>
              <a:t>让主歌/副歌/过渡在全曲中更合理发展，降低机械循环和突然截断。</a:t>
            </a:r>
          </a:p>
          <a:p xmlns:a="http://schemas.openxmlformats.org/drawingml/2006/main">
            <a:r>
              <a:t>优先考虑语义规划层的长程偏好；段落检测器只是定位工具，与听评共同使用。</a:t>
            </a:r>
          </a:p>
          <a:p xmlns:a="http://schemas.openxmlformats.org/drawingml/2006/main">
            <a:r>
              <a:t>LeVo 2、FullSong和SongBloom扩展支持长歌/规划与偏好后训练共存，但不代表它们都训练了同一个“结构奖励”。</a:t>
            </a:r>
          </a:p>
          <a:p xmlns:a="http://schemas.openxmlformats.org/drawingml/2006/main">
            <a:r>
              <a:t>SongFormer等边界/功能标签可能错误；固定副歌次数或重复相似度不是唯一好结构。短片段奖励不能证明整曲发展。</a:t>
            </a:r>
          </a:p>
          <a:p xmlns:a="http://schemas.openxmlformats.org/drawingml/2006/main">
            <a:r>
              <a:t>中：有音乐先例，可靠的结构标注与全曲评估更贵。</a:t>
            </a:r>
          </a:p>
          <a:p xmlns:a="http://schemas.openxmlformats.org/drawingml/2006/main">
            <a:r>
              <a:t>quality</a:t>
            </a:r>
          </a:p>
          <a:p xmlns:a="http://schemas.openxmlformats.org/drawingml/2006/main">
            <a:r>
              <a:t>减少毛刺、浑浊、压缩伪影，同时保留音乐性与风格多样性。</a:t>
            </a:r>
          </a:p>
          <a:p xmlns:a="http://schemas.openxmlformats.org/drawingml/2006/main">
            <a:r>
              <a:t>对实际渲染音频评分，而不仅是语义token；使用音乐域评委与独立盲听，且明确目标是整体质量还是特定缺陷。</a:t>
            </a:r>
          </a:p>
          <a:p xmlns:a="http://schemas.openxmlformats.org/drawingml/2006/main">
            <a:r>
              <a:t>MusicRL、MuseCritic与WanSong采用不同形式的质量/偏好反馈；语音增强的多指标设计提供配方思路。</a:t>
            </a:r>
          </a:p>
          <a:p xmlns:a="http://schemas.openxmlformats.org/drawingml/2006/main">
            <a:r>
              <a:t>DNSMOS、UTMOS来自语音质量/自然度，不能不校准就当成混合音乐或伴奏的正确评委。多个相似评委也可能一起被投机。</a:t>
            </a:r>
          </a:p>
          <a:p xmlns:a="http://schemas.openxmlformats.org/drawingml/2006/main">
            <a:r>
              <a:t>高：必须作所有定向后训练的保底维度。</a:t>
            </a:r>
          </a:p>
          <a:p xmlns:a="http://schemas.openxmlformats.org/drawingml/2006/main">
            <a:r>
              <a:t>arrangement</a:t>
            </a:r>
          </a:p>
          <a:p xmlns:a="http://schemas.openxmlformats.org/drawingml/2006/main">
            <a:r>
              <a:t>让乐器配置、声部角色、动态和频段更合理，而不是单纯增加乐器数。</a:t>
            </a:r>
          </a:p>
          <a:p xmlns:a="http://schemas.openxmlformats.org/drawingml/2006/main">
            <a:r>
              <a:t>先把层次、拥挤、声部冲突、目标乐器是否出现等标签分清；同歌词/风格/时长/响度下做定向偏好。</a:t>
            </a:r>
          </a:p>
          <a:p xmlns:a="http://schemas.openxmlformats.org/drawingml/2006/main">
            <a:r>
              <a:t>SongEval的多维美学评分与CMI的组合指令可提供评价语言，但没有直接证明本项目编配奖励已可靠。</a:t>
            </a:r>
          </a:p>
          <a:p xmlns:a="http://schemas.openxmlformats.org/drawingml/2006/main">
            <a:r>
              <a:t>源分离伪影、乐器识别漏检、响度变化都可能成为捷径；稀疏编配也可以非常好听。</a:t>
            </a:r>
          </a:p>
          <a:p xmlns:a="http://schemas.openxmlformats.org/drawingml/2006/main">
            <a:r>
              <a:t>中：适合研究，但首先需要任务定义与少量专家标注。</a:t>
            </a:r>
          </a:p>
          <a:p xmlns:a="http://schemas.openxmlformats.org/drawingml/2006/main">
            <a:r>
              <a:t>editing</a:t>
            </a:r>
          </a:p>
          <a:p xmlns:a="http://schemas.openxmlformats.org/drawingml/2006/main">
            <a:r>
              <a:t>改变一段歌词、演唱或乐器，尽量保留未指定部分。</a:t>
            </a:r>
          </a:p>
          <a:p xmlns:a="http://schemas.openxmlformats.org/drawingml/2006/main">
            <a:r>
              <a:t>模型必须已支持参考音频、mask或局部条件。奖励既看目标区域是否改好，也看保留区域与边界是否自然。</a:t>
            </a:r>
          </a:p>
          <a:p xmlns:a="http://schemas.openxmlformats.org/drawingml/2006/main">
            <a:r>
              <a:t>YingMusic-Singer在保旋律改歌词上有直接SVS先例；YuE2当前模型卡有编辑能力，但不能归因于RL。</a:t>
            </a:r>
          </a:p>
          <a:p xmlns:a="http://schemas.openxmlformats.org/drawingml/2006/main">
            <a:r>
              <a:t>纯文本到音乐模型若没有相应输入接口与训练数据，光用奖励不能保证获得编辑能力。SVS单人声编辑不等于伴奏联合编辑。</a:t>
            </a:r>
          </a:p>
          <a:p xmlns:a="http://schemas.openxmlformats.org/drawingml/2006/main">
            <a:r>
              <a:t>中：高度依赖基座原生接口。</a:t>
            </a:r>
          </a:p>
          <a:p xmlns:a="http://schemas.openxmlformats.org/drawingml/2006/main">
            <a:r>
              <a:t>personalization</a:t>
            </a:r>
          </a:p>
          <a:p xmlns:a="http://schemas.openxmlformats.org/drawingml/2006/main">
            <a:r>
              <a:t>适应目标用户群的整体品味；进一步为每个用户分别定制，是尚需验证的扩展提案。</a:t>
            </a:r>
          </a:p>
          <a:p xmlns:a="http://schemas.openxmlformats.org/drawingml/2006/main">
            <a:r>
              <a:t>从真实用户的同条件选择学习群体偏好，区分展示偏差与音乐偏好；个人化还需要用户条件、足够反馈与独立设计。</a:t>
            </a:r>
          </a:p>
          <a:p xmlns:a="http://schemas.openxmlformats.org/drawingml/2006/main">
            <a:r>
              <a:t>MusicRL-U用大规模用户成对偏好学习奖励并后训练，是群体偏好对齐先例，不是已证明“每人一个模型”。</a:t>
            </a:r>
          </a:p>
          <a:p xmlns:a="http://schemas.openxmlformats.org/drawingml/2006/main">
            <a:r>
              <a:t>用户行为可能受展示位置、熟悉度与提示影响；点赞不能直接当因果质量标签。个人级偏好漂移和新用户泛化仍需另外验证。</a:t>
            </a:r>
          </a:p>
          <a:p xmlns:a="http://schemas.openxmlformats.org/drawingml/2006/main">
            <a:r>
              <a:t>后续：先把基本可靠性与保底指标讲清楚。</a:t>
            </a:r>
          </a:p>
          <a:p xmlns:a="http://schemas.openxmlformats.org/drawingml/2006/main">
            <a:r>
              <a:t>video</a:t>
            </a:r>
          </a:p>
          <a:p xmlns:a="http://schemas.openxmlformats.org/drawingml/2006/main">
            <a:r>
              <a:t>配乐与视频场景、情绪和时序事件更一致。</a:t>
            </a:r>
          </a:p>
          <a:p xmlns:a="http://schemas.openxmlformats.org/drawingml/2006/main">
            <a:r>
              <a:t>需要模型可接入视频/描述条件；分离条件匹配、时序与音乐质量三个维度。</a:t>
            </a:r>
          </a:p>
          <a:p xmlns:a="http://schemas.openxmlformats.org/drawingml/2006/main">
            <a:r>
              <a:t>VIBE对10秒视频背景器乐采用连续模型奖励后训练，属于直接音乐先例。</a:t>
            </a:r>
          </a:p>
          <a:p xmlns:a="http://schemas.openxmlformats.org/drawingml/2006/main">
            <a:r>
              <a:t>不能把短背景器乐结论外推为完整歌曲或歌声-伴奏对齐已解决。</a:t>
            </a:r>
          </a:p>
          <a:p xmlns:a="http://schemas.openxmlformats.org/drawingml/2006/main">
            <a:r>
              <a:t>后续：与当前声乐伴奏项目相比是扩展方向。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面对主观或弱可验证奖励，这些领域怎样构造反馈、更新模型、确认真实改善，并防止reward hacking？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领域没有统一正确答案，也照样能做后训练。最常见的是先收集同条件好坏选择，训练评委，或者直接用偏好对。需要在线探索时，就对当前模型的新样本评分更新。但论文里真正值得借鉴的不只是奖励分数：FPO关注局部错误，RRPO修理被噪声投机的情绪评委，GRPO-Guard检查更新裁剪。歌声领域也有GRPO改善歌词与旋律的例子，所以不能说GRPO不适合音乐。我们的重点应是：当前候选排序可信不可信、更新是不是有效受约束，以及覆盖度和独立听感有没有一起退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观反馈大致有两类：一类是审美、自然度、情绪，需要人类或学习型评委；另一类有自动代理，例如ASR错误、F0相关、节拍检测，但这些代理也可能错。更新有三条主线：偏好对训练、在线奖励训练、可微奖励反传。连续模型有Diffusion-DPO、Flow-GRPO和NFT等专门接口。它们解决的是怎么把反馈转成参数更新，不保证反馈本身正确。RRPO说明评委可能偏爱奇怪的点击声；Guard说明即使目标没有换，概率比与裁剪也可能造成隐式过优化。SVS的Ying系列提供多目标GRPO例子，但单人声的歌词/旋律不等于我们的伴奏合拍。最后，用独立盲听、当前分布的同条件候选和分维度保底，才有资格把“分数提高”称为“作品改善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CV＝图像/视频视觉；TTS＝文本转语音；SVS＝歌声合成。DPO属于偏好对训练，不等同在线策略梯度。</a:t>
            </a:r>
          </a:p>
          <a:p xmlns:a="http://schemas.openxmlformats.org/drawingml/2006/main">
            <a:r>
              <a:t>表中同时包含纯主观反馈与歌词/音高/规则等弱可验证反馈，二者在详细版中区分。</a:t>
            </a:r>
          </a:p>
          <a:p xmlns:a="http://schemas.openxmlformats.org/drawingml/2006/main">
            <a:r>
              <a:t>VocalCritic是评委证据，不是生成器RL成功证据；S²Voice也不支持“DPO让全部MOS上升”。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逐行来源：</a:t>
            </a:r>
          </a:p>
          <a:p xmlns:a="http://schemas.openxmlformats.org/drawingml/2006/main">
            <a:r>
              <a:t>imagereward: IMAGEREWARD</a:t>
            </a:r>
          </a:p>
          <a:p xmlns:a="http://schemas.openxmlformats.org/drawingml/2006/main">
            <a:r>
              <a:t>ddpo: DDPO</a:t>
            </a:r>
          </a:p>
          <a:p xmlns:a="http://schemas.openxmlformats.org/drawingml/2006/main">
            <a:r>
              <a:t>diffdpo: DIFFDPO</a:t>
            </a:r>
          </a:p>
          <a:p xmlns:a="http://schemas.openxmlformats.org/drawingml/2006/main">
            <a:r>
              <a:t>flow: FLOWGRPO, GUARD</a:t>
            </a:r>
          </a:p>
          <a:p xmlns:a="http://schemas.openxmlformats.org/drawingml/2006/main">
            <a:r>
              <a:t>nft: NFT, VIBE</a:t>
            </a:r>
          </a:p>
          <a:p xmlns:a="http://schemas.openxmlformats.org/drawingml/2006/main">
            <a:r>
              <a:t>tts_pref: UNO, EMODPO, MPO</a:t>
            </a:r>
          </a:p>
          <a:p xmlns:a="http://schemas.openxmlformats.org/drawingml/2006/main">
            <a:r>
              <a:t>fpo: FPO</a:t>
            </a:r>
          </a:p>
          <a:p xmlns:a="http://schemas.openxmlformats.org/drawingml/2006/main">
            <a:r>
              <a:t>gsrm: GSRM</a:t>
            </a:r>
          </a:p>
          <a:p xmlns:a="http://schemas.openxmlformats.org/drawingml/2006/main">
            <a:r>
              <a:t>speech_enhance: SEGSPO</a:t>
            </a:r>
          </a:p>
          <a:p xmlns:a="http://schemas.openxmlformats.org/drawingml/2006/main">
            <a:r>
              <a:t>dlpo: DLPO</a:t>
            </a:r>
          </a:p>
          <a:p xmlns:a="http://schemas.openxmlformats.org/drawingml/2006/main">
            <a:r>
              <a:t>diffro: DIFFRO, RRPO</a:t>
            </a:r>
          </a:p>
          <a:p xmlns:a="http://schemas.openxmlformats.org/drawingml/2006/main">
            <a:r>
              <a:t>ying: YING25, YING26, YING-REPO</a:t>
            </a:r>
          </a:p>
          <a:p xmlns:a="http://schemas.openxmlformats.org/drawingml/2006/main">
            <a:r>
              <a:t>s2: S2VOICE, S2-DEMO</a:t>
            </a:r>
          </a:p>
          <a:p xmlns:a="http://schemas.openxmlformats.org/drawingml/2006/main">
            <a:r>
              <a:t>critic_only: VOCALCRITIC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文献与官方资料：</a:t>
            </a:r>
          </a:p>
          <a:p xmlns:a="http://schemas.openxmlformats.org/drawingml/2006/main">
            <a:r>
              <a:t>MUSECRITIC: MuseCritic: Learning Multi-Aspect Song Rewards through Natural-Language Aesthetic Critiques</a:t>
            </a:r>
          </a:p>
          <a:p xmlns:a="http://schemas.openxmlformats.org/drawingml/2006/main">
            <a:r>
              <a:t>https://arxiv.org/abs/2608.11755</a:t>
            </a:r>
          </a:p>
          <a:p xmlns:a="http://schemas.openxmlformats.org/drawingml/2006/main">
            <a:r>
              <a:t>定位：§4.1/4.3；Muse-0.6B GRPO；733 pairs来源</a:t>
            </a:r>
          </a:p>
          <a:p xmlns:a="http://schemas.openxmlformats.org/drawingml/2006/main">
            <a:r>
              <a:t>ACE15: ACE-Step 1.5: Pushing the Boundaries of Open-Source Music Generation</a:t>
            </a:r>
          </a:p>
          <a:p xmlns:a="http://schemas.openxmlformats.org/drawingml/2006/main">
            <a:r>
              <a:t>https://arxiv.org/abs/2602.00744</a:t>
            </a:r>
          </a:p>
          <a:p xmlns:a="http://schemas.openxmlformats.org/drawingml/2006/main">
            <a:r>
              <a:t>定位：§2 captioner、§4.2 generator RL、Table1 no RL</a:t>
            </a:r>
          </a:p>
          <a:p xmlns:a="http://schemas.openxmlformats.org/drawingml/2006/main">
            <a:r>
              <a:t>MUSICRL: MusicRL: Aligning Music Generation to Human Preferences</a:t>
            </a:r>
          </a:p>
          <a:p xmlns:a="http://schemas.openxmlformats.org/drawingml/2006/main">
            <a:r>
              <a:t>https://proceedings.mlr.press/v235/cideron24a.html</a:t>
            </a:r>
          </a:p>
          <a:p xmlns:a="http://schemas.openxmlformats.org/drawingml/2006/main">
            <a:r>
              <a:t>定位：task→user；KL-REINFORCE+value baseline</a:t>
            </a:r>
          </a:p>
          <a:p xmlns:a="http://schemas.openxmlformats.org/drawingml/2006/main">
            <a:r>
              <a:t>VIBE: VIBE: Video Instruction-aligned Background music gEneration</a:t>
            </a:r>
          </a:p>
          <a:p xmlns:a="http://schemas.openxmlformats.org/drawingml/2006/main">
            <a:r>
              <a:t>https://arxiv.org/abs/2608.30125</a:t>
            </a:r>
          </a:p>
          <a:p xmlns:a="http://schemas.openxmlformats.org/drawingml/2006/main">
            <a:r>
              <a:t>定位：§3 hard/soft，五阶段DiffusionNFT；10s器乐</a:t>
            </a:r>
          </a:p>
          <a:p xmlns:a="http://schemas.openxmlformats.org/drawingml/2006/main">
            <a:r>
              <a:t>DDPO: Training Diffusion Models with Reinforcement Learning</a:t>
            </a:r>
          </a:p>
          <a:p xmlns:a="http://schemas.openxmlformats.org/drawingml/2006/main">
            <a:r>
              <a:t>https://arxiv.org/abs/2305.13301</a:t>
            </a:r>
          </a:p>
          <a:p xmlns:a="http://schemas.openxmlformats.org/drawingml/2006/main">
            <a:r>
              <a:t>定位：图像终局黑盒奖励；reward hacking</a:t>
            </a:r>
          </a:p>
          <a:p xmlns:a="http://schemas.openxmlformats.org/drawingml/2006/main">
            <a:r>
              <a:t>IMAGEREWARD: ImageReward: Learning and Evaluating Human Preferences for Text-to-Image Generation</a:t>
            </a:r>
          </a:p>
          <a:p xmlns:a="http://schemas.openxmlformats.org/drawingml/2006/main">
            <a:r>
              <a:t>https://arxiv.org/abs/2304.05977</a:t>
            </a:r>
          </a:p>
          <a:p xmlns:a="http://schemas.openxmlformats.org/drawingml/2006/main">
            <a:r>
              <a:t>定位：人类偏好RM、ReFL</a:t>
            </a:r>
          </a:p>
          <a:p xmlns:a="http://schemas.openxmlformats.org/drawingml/2006/main">
            <a:r>
              <a:t>DIFFDPO: Diffusion Model Alignment Using Direct Preference Optimization</a:t>
            </a:r>
          </a:p>
          <a:p xmlns:a="http://schemas.openxmlformats.org/drawingml/2006/main">
            <a:r>
              <a:t>https://arxiv.org/abs/2311.12908</a:t>
            </a:r>
          </a:p>
          <a:p xmlns:a="http://schemas.openxmlformats.org/drawingml/2006/main">
            <a:r>
              <a:t>定位：diffusion preference loss</a:t>
            </a:r>
          </a:p>
          <a:p xmlns:a="http://schemas.openxmlformats.org/drawingml/2006/main">
            <a:r>
              <a:t>FLOWGRPO: Flow-GRPO: Training Flow Matching Models via Online RL</a:t>
            </a:r>
          </a:p>
          <a:p xmlns:a="http://schemas.openxmlformats.org/drawingml/2006/main">
            <a:r>
              <a:t>https://arxiv.org/abs/2505.05470</a:t>
            </a:r>
          </a:p>
          <a:p xmlns:a="http://schemas.openxmlformats.org/drawingml/2006/main">
            <a:r>
              <a:t>定位：v5 SDE接口；rule和learned reward分开</a:t>
            </a:r>
          </a:p>
          <a:p xmlns:a="http://schemas.openxmlformats.org/drawingml/2006/main">
            <a:r>
              <a:t>NFT: DiffusionNFT: Online Diffusion Reinforcement with Forward Process</a:t>
            </a:r>
          </a:p>
          <a:p xmlns:a="http://schemas.openxmlformats.org/drawingml/2006/main">
            <a:r>
              <a:t>https://arxiv.org/abs/2509.16117</a:t>
            </a:r>
          </a:p>
          <a:p xmlns:a="http://schemas.openxmlformats.org/drawingml/2006/main">
            <a:r>
              <a:t>定位：v2 clean sample打分、前向加噪正负训练</a:t>
            </a:r>
          </a:p>
          <a:p xmlns:a="http://schemas.openxmlformats.org/drawingml/2006/main">
            <a:r>
              <a:t>UNO: Enhancing Zero-shot Text-to-Speech Synthesis with Human Feedback</a:t>
            </a:r>
          </a:p>
          <a:p xmlns:a="http://schemas.openxmlformats.org/drawingml/2006/main">
            <a:r>
              <a:t>https://arxiv.org/abs/2406.00654</a:t>
            </a:r>
          </a:p>
          <a:p xmlns:a="http://schemas.openxmlformats.org/drawingml/2006/main">
            <a:r>
              <a:t>定位：uncertainty-aware desirable feedback</a:t>
            </a:r>
          </a:p>
          <a:p xmlns:a="http://schemas.openxmlformats.org/drawingml/2006/main">
            <a:r>
              <a:t>EMODPO: Emo-DPO: Controllable Emotional Speech Synthesis through Direct Preference Optimization</a:t>
            </a:r>
          </a:p>
          <a:p xmlns:a="http://schemas.openxmlformats.org/drawingml/2006/main">
            <a:r>
              <a:t>https://arxiv.org/abs/2409.10157</a:t>
            </a:r>
          </a:p>
          <a:p xmlns:a="http://schemas.openxmlformats.org/drawingml/2006/main">
            <a:r>
              <a:t>定位：情绪TTS指令SFT+DPO与人评</a:t>
            </a:r>
          </a:p>
          <a:p xmlns:a="http://schemas.openxmlformats.org/drawingml/2006/main">
            <a:r>
              <a:t>MPO: MPO: Multidimensional Preference Optimization for Language Model-based Text-to-Speech</a:t>
            </a:r>
          </a:p>
          <a:p xmlns:a="http://schemas.openxmlformats.org/drawingml/2006/main">
            <a:r>
              <a:t>https://arxiv.org/abs/2509.00685</a:t>
            </a:r>
          </a:p>
          <a:p xmlns:a="http://schemas.openxmlformats.org/drawingml/2006/main">
            <a:r>
              <a:t>定位：多维best/worst集合配对</a:t>
            </a:r>
          </a:p>
          <a:p xmlns:a="http://schemas.openxmlformats.org/drawingml/2006/main">
            <a:r>
              <a:t>FPO: FPO: Fine-Grained Preference Optimization Improves Zero-Shot Text-to-Speech</a:t>
            </a:r>
          </a:p>
          <a:p xmlns:a="http://schemas.openxmlformats.org/drawingml/2006/main">
            <a:r>
              <a:t>https://arxiv.org/abs/2502.02950</a:t>
            </a:r>
          </a:p>
          <a:p xmlns:a="http://schemas.openxmlformats.org/drawingml/2006/main">
            <a:r>
              <a:t>定位：v2 局部错误selective loss；2026期刊</a:t>
            </a:r>
          </a:p>
          <a:p xmlns:a="http://schemas.openxmlformats.org/drawingml/2006/main">
            <a:r>
              <a:t>GSRM: GSRM: Generative Speech Reward Model for Speech RLHF</a:t>
            </a:r>
          </a:p>
          <a:p xmlns:a="http://schemas.openxmlformats.org/drawingml/2006/main">
            <a:r>
              <a:t>https://arxiv.org/abs/2602.13891</a:t>
            </a:r>
          </a:p>
          <a:p xmlns:a="http://schemas.openxmlformats.org/drawingml/2006/main">
            <a:r>
              <a:t>定位：PDF §5/D.2 actor；E.2 judge，HTML不完整</a:t>
            </a:r>
          </a:p>
          <a:p xmlns:a="http://schemas.openxmlformats.org/drawingml/2006/main">
            <a:r>
              <a:t>DLPO: DLPO: Diffusion Model Loss-Guided Reinforcement Learning for Fine-Tuning Text-to-Speech Diffusion Models</a:t>
            </a:r>
          </a:p>
          <a:p xmlns:a="http://schemas.openxmlformats.org/drawingml/2006/main">
            <a:r>
              <a:t>https://arxiv.org/abs/2405.14632</a:t>
            </a:r>
          </a:p>
          <a:p xmlns:a="http://schemas.openxmlformats.org/drawingml/2006/main">
            <a:r>
              <a:t>定位：v2 UTMOS与diffusion-loss anchor</a:t>
            </a:r>
          </a:p>
          <a:p xmlns:a="http://schemas.openxmlformats.org/drawingml/2006/main">
            <a:r>
              <a:t>DIFFRO: Differentiable Reward Optimization for LLM based TTS system</a:t>
            </a:r>
          </a:p>
          <a:p xmlns:a="http://schemas.openxmlformats.org/drawingml/2006/main">
            <a:r>
              <a:t>https://arxiv.org/abs/2507.05911</a:t>
            </a:r>
          </a:p>
          <a:p xmlns:a="http://schemas.openxmlformats.org/drawingml/2006/main">
            <a:r>
              <a:t>定位：token-domain可微RM；renderer错配</a:t>
            </a:r>
          </a:p>
          <a:p xmlns:a="http://schemas.openxmlformats.org/drawingml/2006/main">
            <a:r>
              <a:t>RRPO: RRPO: Robust Reward Policy Optimization for LLM-based Emotional TTS</a:t>
            </a:r>
          </a:p>
          <a:p xmlns:a="http://schemas.openxmlformats.org/drawingml/2006/main">
            <a:r>
              <a:t>https://arxiv.org/abs/2512.04552</a:t>
            </a:r>
          </a:p>
          <a:p xmlns:a="http://schemas.openxmlformats.org/drawingml/2006/main">
            <a:r>
              <a:t>定位：v3 §2.2正则施于RM；SER reward hacking</a:t>
            </a:r>
          </a:p>
          <a:p xmlns:a="http://schemas.openxmlformats.org/drawingml/2006/main">
            <a:r>
              <a:t>VOCALCRITIC: Generative Multi-modal Feedback for Singing Voice Synthesis Evaluation</a:t>
            </a:r>
          </a:p>
          <a:p xmlns:a="http://schemas.openxmlformats.org/drawingml/2006/main">
            <a:r>
              <a:t>https://arxiv.org/abs/2512.02523</a:t>
            </a:r>
          </a:p>
          <a:p xmlns:a="http://schemas.openxmlformats.org/drawingml/2006/main">
            <a:r>
              <a:t>定位：SVS critic，不是actor RL验证</a:t>
            </a:r>
          </a:p>
          <a:p xmlns:a="http://schemas.openxmlformats.org/drawingml/2006/main">
            <a:r>
              <a:t>YING25: YingMusic-Singer: Zero-shot Singing Voice Synthesis and Editing with Annotation-free Melody Guidance</a:t>
            </a:r>
          </a:p>
          <a:p xmlns:a="http://schemas.openxmlformats.org/drawingml/2006/main">
            <a:r>
              <a:t>https://arxiv.org/abs/2512.04779</a:t>
            </a:r>
          </a:p>
          <a:p xmlns:a="http://schemas.openxmlformats.org/drawingml/2006/main">
            <a:r>
              <a:t>定位：v1 §3.3 Flow-GRPO、1-WER+F0 corr</a:t>
            </a:r>
          </a:p>
          <a:p xmlns:a="http://schemas.openxmlformats.org/drawingml/2006/main">
            <a:r>
              <a:t>YING26: YingMusic-Singer: Controllable Singing Voice Synthesis with Flexible Lyric Manipulation and Annotation-free Melody Guidance</a:t>
            </a:r>
          </a:p>
          <a:p xmlns:a="http://schemas.openxmlformats.org/drawingml/2006/main">
            <a:r>
              <a:t>https://arxiv.org/abs/2603.24589</a:t>
            </a:r>
          </a:p>
          <a:p xmlns:a="http://schemas.openxmlformats.org/drawingml/2006/main">
            <a:r>
              <a:t>定位：v3 §2.3、Table4；repo名仍Plus</a:t>
            </a:r>
          </a:p>
          <a:p xmlns:a="http://schemas.openxmlformats.org/drawingml/2006/main">
            <a:r>
              <a:t>S2VOICE: S²Voice: Style-Aware Autoregressive Modeling with Enhanced Conditioning for Singing Style Conversion</a:t>
            </a:r>
          </a:p>
          <a:p xmlns:a="http://schemas.openxmlformats.org/drawingml/2006/main">
            <a:r>
              <a:t>https://arxiv.org/abs/2601.13629</a:t>
            </a:r>
          </a:p>
          <a:p xmlns:a="http://schemas.openxmlformats.org/drawingml/2006/main">
            <a:r>
              <a:t>定位：v1 §3.4、Table2；DPO式AR-only，坏例描述与均值分开</a:t>
            </a:r>
          </a:p>
          <a:p xmlns:a="http://schemas.openxmlformats.org/drawingml/2006/main">
            <a:r>
              <a:t>SEGSPO: Post-Training Speech Enhancement Language Models with Perceptual Rewards</a:t>
            </a:r>
          </a:p>
          <a:p xmlns:a="http://schemas.openxmlformats.org/drawingml/2006/main">
            <a:r>
              <a:t>https://arxiv.org/abs/2606.21458</a:t>
            </a:r>
          </a:p>
          <a:p xmlns:a="http://schemas.openxmlformats.org/drawingml/2006/main">
            <a:r>
              <a:t>定位：GSPO，DNSMOS+(1-WER)+UTMOS；人评消融</a:t>
            </a:r>
          </a:p>
          <a:p xmlns:a="http://schemas.openxmlformats.org/drawingml/2006/main">
            <a:r>
              <a:t>GENSR: Multi-Metric Preference Alignment for Generative Speech Restoration</a:t>
            </a:r>
          </a:p>
          <a:p xmlns:a="http://schemas.openxmlformats.org/drawingml/2006/main">
            <a:r>
              <a:t>https://ojs.aaai.org/index.php/AAAI/article/view/40775</a:t>
            </a:r>
          </a:p>
          <a:p xmlns:a="http://schemas.openxmlformats.org/drawingml/2006/main">
            <a:r>
              <a:t>定位：四轴一致偏好与DPO</a:t>
            </a:r>
          </a:p>
          <a:p xmlns:a="http://schemas.openxmlformats.org/drawingml/2006/main">
            <a:r>
              <a:t>GAPT: Generative Adversarial Post-Training Mitigates Reward Hacking in Live Human-AI Music Interaction</a:t>
            </a:r>
          </a:p>
          <a:p xmlns:a="http://schemas.openxmlformats.org/drawingml/2006/main">
            <a:r>
              <a:t>https://proceedings.iclr.cc/paper_files/paper/2026/hash/e6731a1d3eddafeb8c94669a1d82fc5d-Abstract-Conference.html</a:t>
            </a:r>
          </a:p>
          <a:p xmlns:a="http://schemas.openxmlformats.org/drawingml/2006/main">
            <a:r>
              <a:t>定位：实时旋律和弦、对抗真实性与退化</a:t>
            </a:r>
          </a:p>
          <a:p xmlns:a="http://schemas.openxmlformats.org/drawingml/2006/main">
            <a:r>
              <a:t>CMI: CMI-RewardBench: Evaluating Music Reward Models with Compositional Multimodal Instruction</a:t>
            </a:r>
          </a:p>
          <a:p xmlns:a="http://schemas.openxmlformats.org/drawingml/2006/main">
            <a:r>
              <a:t>https://arxiv.org/abs/2603.00610</a:t>
            </a:r>
          </a:p>
          <a:p xmlns:a="http://schemas.openxmlformats.org/drawingml/2006/main">
            <a:r>
              <a:t>定位：reward qualification；CMI-Pref / CMI-RM不同对象</a:t>
            </a:r>
          </a:p>
          <a:p xmlns:a="http://schemas.openxmlformats.org/drawingml/2006/main">
            <a:r>
              <a:t>SONGEVAL: SongEval: A Benchmark Dataset for Song Aesthetics Evaluation</a:t>
            </a:r>
          </a:p>
          <a:p xmlns:a="http://schemas.openxmlformats.org/drawingml/2006/main">
            <a:r>
              <a:t>https://arxiv.org/abs/2505.10793</a:t>
            </a:r>
          </a:p>
          <a:p xmlns:a="http://schemas.openxmlformats.org/drawingml/2006/main">
            <a:r>
              <a:t>定位：五维专家评分，不是beat gold</a:t>
            </a:r>
          </a:p>
          <a:p xmlns:a="http://schemas.openxmlformats.org/drawingml/2006/main">
            <a:r>
              <a:t>YING-REPO: YingMusic-Singer-Plus official release</a:t>
            </a:r>
          </a:p>
          <a:p xmlns:a="http://schemas.openxmlformats.org/drawingml/2006/main">
            <a:r>
              <a:t>https://github.com/ASLP-lab/YingMusic-Singer-Plus</a:t>
            </a:r>
          </a:p>
          <a:p xmlns:a="http://schemas.openxmlformats.org/drawingml/2006/main">
            <a:r>
              <a:t>定位：名称与v3 paper不同；727.3M组件、输入vocal stems</a:t>
            </a:r>
          </a:p>
          <a:p xmlns:a="http://schemas.openxmlformats.org/drawingml/2006/main">
            <a:r>
              <a:t>YING-DEMO: YingMusic-Singer-Plus interactive demo</a:t>
            </a:r>
          </a:p>
          <a:p xmlns:a="http://schemas.openxmlformats.org/drawingml/2006/main">
            <a:r>
              <a:t>https://huggingface.co/spaces/ASLP-lab/YingMusic-Singer-Plus</a:t>
            </a:r>
          </a:p>
          <a:p xmlns:a="http://schemas.openxmlformats.org/drawingml/2006/main">
            <a:r>
              <a:t>定位：推理界面；不是RL训练器</a:t>
            </a:r>
          </a:p>
          <a:p xmlns:a="http://schemas.openxmlformats.org/drawingml/2006/main">
            <a:r>
              <a:t>S2-DEMO: S2Voice singing style conversion challenge demos</a:t>
            </a:r>
          </a:p>
          <a:p xmlns:a="http://schemas.openxmlformats.org/drawingml/2006/main">
            <a:r>
              <a:t>https://honee-w.github.io/SVC-Challenge-Demo/</a:t>
            </a:r>
          </a:p>
          <a:p xmlns:a="http://schemas.openxmlformats.org/drawingml/2006/main">
            <a:r>
              <a:t>定位：论文作者示例页</a:t>
            </a:r>
          </a:p>
          <a:p xmlns:a="http://schemas.openxmlformats.org/drawingml/2006/main">
            <a:r>
              <a:t>FLOW-REPO: Flow-GRPO official code</a:t>
            </a:r>
          </a:p>
          <a:p xmlns:a="http://schemas.openxmlformats.org/drawingml/2006/main">
            <a:r>
              <a:t>https://github.com/yifan123/flow_grpo</a:t>
            </a:r>
          </a:p>
          <a:p xmlns:a="http://schemas.openxmlformats.org/drawingml/2006/main">
            <a:r>
              <a:t>定位：Flow-GRPO；同repo相关项目不等于同一论文</a:t>
            </a:r>
          </a:p>
          <a:p xmlns:a="http://schemas.openxmlformats.org/drawingml/2006/main">
            <a:r>
              <a:t>GUARD: GRPO-Guard: Mitigating Implicit Over-Optimization in Flow Matching via Regulated Clipping</a:t>
            </a:r>
          </a:p>
          <a:p xmlns:a="http://schemas.openxmlformats.org/drawingml/2006/main">
            <a:r>
              <a:t>https://jingw193.github.io/GRPO-Guard/</a:t>
            </a:r>
          </a:p>
          <a:p xmlns:a="http://schemas.openxmlformats.org/drawingml/2006/main">
            <a:r>
              <a:t>定位：importance-ratio偏移、归一化和梯度重加权；CV机制不直接套用AR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内容边界：</a:t>
            </a:r>
          </a:p>
          <a:p xmlns:a="http://schemas.openxmlformats.org/drawingml/2006/main">
            <a:r>
              <a:t>基于2026-10-15已核验资料。未披露不等于没有使用RL。这里只比较公开证据，不从榜单推出算法因果收益。</a:t>
            </a:r>
          </a:p>
          <a:p xmlns:a="http://schemas.openxmlformats.org/drawingml/2006/main">
            <a:r>
              <a:t>imagereward</a:t>
            </a:r>
          </a:p>
          <a:p xmlns:a="http://schemas.openxmlformats.org/drawingml/2006/main">
            <a:r>
              <a:t>CV</a:t>
            </a:r>
          </a:p>
          <a:p xmlns:a="http://schemas.openxmlformats.org/drawingml/2006/main">
            <a:r>
              <a:t>主观偏好</a:t>
            </a:r>
          </a:p>
          <a:p xmlns:a="http://schemas.openxmlformats.org/drawingml/2006/main">
            <a:r>
              <a:t>先从人类比较学习ImageReward，再通过ReFL把可微奖励用于生成器更新。主观目标经由代理函数变成可优化信号，并不需要逐像素正确答案。</a:t>
            </a:r>
          </a:p>
          <a:p xmlns:a="http://schemas.openxmlformats.org/drawingml/2006/main">
            <a:r>
              <a:t>原文给出偏好评估与训练后的比较；不能把评委与其自评分的提升当成唯一成功标准。</a:t>
            </a:r>
          </a:p>
          <a:p xmlns:a="http://schemas.openxmlformats.org/drawingml/2006/main">
            <a:r>
              <a:t>音乐整体听感可以用偏好评委表达；但我们必须区分“评委能排序”与“其梯度会把生成器带到哪里”。</a:t>
            </a:r>
          </a:p>
          <a:p xmlns:a="http://schemas.openxmlformats.org/drawingml/2006/main">
            <a:r>
              <a:t>ReFL属于可微奖励更新路线，不应一律改称PPO/GRPO。</a:t>
            </a:r>
          </a:p>
          <a:p xmlns:a="http://schemas.openxmlformats.org/drawingml/2006/main">
            <a:r>
              <a:t>ddpo</a:t>
            </a:r>
          </a:p>
          <a:p xmlns:a="http://schemas.openxmlformats.org/drawingml/2006/main">
            <a:r>
              <a:t>CV</a:t>
            </a:r>
          </a:p>
          <a:p xmlns:a="http://schemas.openxmlformats.org/drawingml/2006/main">
            <a:r>
              <a:t>混合：美学等主观代理，也含压缩性等明确计算目标</a:t>
            </a:r>
          </a:p>
          <a:p xmlns:a="http://schemas.openxmlformats.org/drawingml/2006/main">
            <a:r>
              <a:t>把去噪采样视为多步决策，对最终图像计算黑盒奖励，用策略梯度更新。奖励本身不必可微。</a:t>
            </a:r>
          </a:p>
          <a:p xmlns:a="http://schemas.openxmlformats.org/drawingml/2006/main">
            <a:r>
              <a:t>论文既展示多种奖励可被优化，也暴露目标投机；完成指定代理任务与整体视觉质量不是同义词。</a:t>
            </a:r>
          </a:p>
          <a:p xmlns:a="http://schemas.openxmlformats.org/drawingml/2006/main">
            <a:r>
              <a:t>我们的MIR工具可以是黑盒反馈，不需要可微；但“可以训练”不等于“目标定义正确”。</a:t>
            </a:r>
          </a:p>
          <a:p xmlns:a="http://schemas.openxmlformats.org/drawingml/2006/main">
            <a:r>
              <a:t>计算上可验证的压缩大小与人类美学不能混称同一类不可验证奖励。</a:t>
            </a:r>
          </a:p>
          <a:p xmlns:a="http://schemas.openxmlformats.org/drawingml/2006/main">
            <a:r>
              <a:t>diffdpo</a:t>
            </a:r>
          </a:p>
          <a:p xmlns:a="http://schemas.openxmlformats.org/drawingml/2006/main">
            <a:r>
              <a:t>CV</a:t>
            </a:r>
          </a:p>
          <a:p xmlns:a="http://schemas.openxmlformats.org/drawingml/2006/main">
            <a:r>
              <a:t>主观偏好对</a:t>
            </a:r>
          </a:p>
          <a:p xmlns:a="http://schemas.openxmlformats.org/drawingml/2006/main">
            <a:r>
              <a:t>利用同提示下被偏好与不被偏好的图像，通过扩散模型对应的偏好训练目标对齐，不必部署一个显式标量RM。</a:t>
            </a:r>
          </a:p>
          <a:p xmlns:a="http://schemas.openxmlformats.org/drawingml/2006/main">
            <a:r>
              <a:t>公开研究给出人类偏好与生成评价；相对于在线RL，信号通常来自预先收集的偏好对。</a:t>
            </a:r>
          </a:p>
          <a:p xmlns:a="http://schemas.openxmlformats.org/drawingml/2006/main">
            <a:r>
              <a:t>音乐可先明确“谁更好”而非要求每条歌有绝对MOS；但flow/diffusion需要专门训练目标，不能直接照搬AR式logprob。</a:t>
            </a:r>
          </a:p>
          <a:p xmlns:a="http://schemas.openxmlformats.org/drawingml/2006/main">
            <a:r>
              <a:t>不显式训练RM不等于标签无噪声；静态数据也可能偏离后来模型的候选分布。</a:t>
            </a:r>
          </a:p>
          <a:p xmlns:a="http://schemas.openxmlformats.org/drawingml/2006/main">
            <a:r>
              <a:t>flow</a:t>
            </a:r>
          </a:p>
          <a:p xmlns:a="http://schemas.openxmlformats.org/drawingml/2006/main">
            <a:r>
              <a:t>CV</a:t>
            </a:r>
          </a:p>
          <a:p xmlns:a="http://schemas.openxmlformats.org/drawingml/2006/main">
            <a:r>
              <a:t>混合：规则任务＋学习型审美/偏好评委</a:t>
            </a:r>
          </a:p>
          <a:p xmlns:a="http://schemas.openxmlformats.org/drawingml/2006/main">
            <a:r>
              <a:t>Flow-GRPO通过随机化连续采样轨迹建立策略更新接口；GRPO-Guard进一步分析时间步重要性比率失衡，并采用比率归一化与梯度重加权约束更新。</a:t>
            </a:r>
          </a:p>
          <a:p xmlns:a="http://schemas.openxmlformats.org/drawingml/2006/main">
            <a:r>
              <a:t>这些工作表明，代理分上升而质量下降可能包含优化器/裁剪机制问题，不能只归因于奖励不够清楚。</a:t>
            </a:r>
          </a:p>
          <a:p xmlns:a="http://schemas.openxmlformats.org/drawingml/2006/main">
            <a:r>
              <a:t>若我们优化的是flow渲染器，该机制值得参考；若优化AR token decoder，需另查该模型的比率、mask与更新实现，不能直接宣布同一病因。</a:t>
            </a:r>
          </a:p>
          <a:p xmlns:a="http://schemas.openxmlformats.org/drawingml/2006/main">
            <a:r>
              <a:t>GenEval/OCR等明确规则与学习型偏好分不是同类反馈；Guard不使错误的奖励自动正确。</a:t>
            </a:r>
          </a:p>
          <a:p xmlns:a="http://schemas.openxmlformats.org/drawingml/2006/main">
            <a:r>
              <a:t>nft</a:t>
            </a:r>
          </a:p>
          <a:p xmlns:a="http://schemas.openxmlformats.org/drawingml/2006/main">
            <a:r>
              <a:t>CV；音乐迁移例为VIBE</a:t>
            </a:r>
          </a:p>
          <a:p xmlns:a="http://schemas.openxmlformats.org/drawingml/2006/main">
            <a:r>
              <a:t>可接主观代理或明确目标的黑盒评分</a:t>
            </a:r>
          </a:p>
          <a:p xmlns:a="http://schemas.openxmlformats.org/drawingml/2006/main">
            <a:r>
              <a:t>对完整生成样本打分，再经前向加噪构成相对正/负目标以拟合速度场，避免某些依赖反向采样轨迹似然的接口负担。它是连续模型的替代更新路线，不是把离散音乐LM直接换一个loss即可。</a:t>
            </a:r>
          </a:p>
          <a:p xmlns:a="http://schemas.openxmlformats.org/drawingml/2006/main">
            <a:r>
              <a:t>DiffusionNFT论文的效率/质量结果来自其图像设置；VIBE和ACE相关组件提供音乐侧使用先例。</a:t>
            </a:r>
          </a:p>
          <a:p xmlns:a="http://schemas.openxmlformats.org/drawingml/2006/main">
            <a:r>
              <a:t>连续音频生成器若有合适前向训练接口，可以讨论NFT；不能宣称其会修复beat reward错误或自动保住覆盖度。</a:t>
            </a:r>
          </a:p>
          <a:p xmlns:a="http://schemas.openxmlformats.org/drawingml/2006/main">
            <a:r>
              <a:t>EMA/参考更新约束的是模型漂移，不是重训奖励评委；图像报告的25倍效率不能移植为音乐速度承诺。</a:t>
            </a:r>
          </a:p>
          <a:p xmlns:a="http://schemas.openxmlformats.org/drawingml/2006/main">
            <a:r>
              <a:t>tts_pref</a:t>
            </a:r>
          </a:p>
          <a:p xmlns:a="http://schemas.openxmlformats.org/drawingml/2006/main">
            <a:r>
              <a:t>TTS</a:t>
            </a:r>
          </a:p>
          <a:p xmlns:a="http://schemas.openxmlformats.org/drawingml/2006/main">
            <a:r>
              <a:t>主观偏好及其不确定性</a:t>
            </a:r>
          </a:p>
          <a:p xmlns:a="http://schemas.openxmlformats.org/drawingml/2006/main">
            <a:r>
              <a:t>UNO用可取性反馈并处理标注不确定性；Emo-DPO做情绪可控语音的偏好对齐；MPO把多个维度的较好/较差候选集合用于配对。三者不是一个算法。</a:t>
            </a:r>
          </a:p>
          <a:p xmlns:a="http://schemas.openxmlformats.org/drawingml/2006/main">
            <a:r>
              <a:t>各自用听评/质量或内容指标确认训练结果；不同数据、基座和评测上的MOS不可直接横比。</a:t>
            </a:r>
          </a:p>
          <a:p xmlns:a="http://schemas.openxmlformats.org/drawingml/2006/main">
            <a:r>
              <a:t>主观维度不需要绝对真值也能训练；可通过同条件比较、分维度偏好与不确定标签处理形成信号。</a:t>
            </a:r>
          </a:p>
          <a:p xmlns:a="http://schemas.openxmlformats.org/drawingml/2006/main">
            <a:r>
              <a:t>MPO的best/worst集合交叉配对不等于多目标Pareto严格支配；UNO的不确定性也不能直接当作我们节拍器已校准的confidence。</a:t>
            </a:r>
          </a:p>
          <a:p xmlns:a="http://schemas.openxmlformats.org/drawingml/2006/main">
            <a:r>
              <a:t>fpo</a:t>
            </a:r>
          </a:p>
          <a:p xmlns:a="http://schemas.openxmlformats.org/drawingml/2006/main">
            <a:r>
              <a:t>TTS</a:t>
            </a:r>
          </a:p>
          <a:p xmlns:a="http://schemas.openxmlformats.org/drawingml/2006/main">
            <a:r>
              <a:t>细粒度错误/偏好</a:t>
            </a:r>
          </a:p>
          <a:p xmlns:a="http://schemas.openxmlformats.org/drawingml/2006/main">
            <a:r>
              <a:t>将偏好优化重点放在有问题的局部，而不是把包含一个错误的整段语音所有token都推向同一方向。</a:t>
            </a:r>
          </a:p>
          <a:p xmlns:a="http://schemas.openxmlformats.org/drawingml/2006/main">
            <a:r>
              <a:t>原文针对zero-shot TTS的质量与错误进行评估；当前v2对应2026期刊扩展，引用时区分版本。</a:t>
            </a:r>
          </a:p>
          <a:p xmlns:a="http://schemas.openxmlformats.org/drawingml/2006/main">
            <a:r>
              <a:t>音乐一段错拍，不代表其他段落都差；局部归因和保留正确内容是值得借鉴的思想。</a:t>
            </a:r>
          </a:p>
          <a:p xmlns:a="http://schemas.openxmlformats.org/drawingml/2006/main">
            <a:r>
              <a:t>局部片段的定位与信用分配仍要可靠；不能仅切出高分段后宣称全曲变好。</a:t>
            </a:r>
          </a:p>
          <a:p xmlns:a="http://schemas.openxmlformats.org/drawingml/2006/main">
            <a:r>
              <a:t>gsrm</a:t>
            </a:r>
          </a:p>
          <a:p xmlns:a="http://schemas.openxmlformats.org/drawingml/2006/main">
            <a:r>
              <a:t>TTS</a:t>
            </a:r>
          </a:p>
          <a:p xmlns:a="http://schemas.openxmlformats.org/drawingml/2006/main">
            <a:r>
              <a:t>生成式评委学习主观质量</a:t>
            </a:r>
          </a:p>
          <a:p xmlns:a="http://schemas.openxmlformats.org/drawingml/2006/main">
            <a:r>
              <a:t>GSRM基于Qwen2.5-Omni-7B学习语音点评/评分；完整PDF另有speech actor的GRPO实验。评委自身的训练与生成器的训练是两套证据。</a:t>
            </a:r>
          </a:p>
          <a:p xmlns:a="http://schemas.openxmlformats.org/drawingml/2006/main">
            <a:r>
              <a:t>actor更新见PDF §5与D.2，并有人类A/B评价；评委侧RL见E.2。公开HTML不完整，不能只读HTML便断言没有生成器实验。</a:t>
            </a:r>
          </a:p>
          <a:p xmlns:a="http://schemas.openxmlformats.org/drawingml/2006/main">
            <a:r>
              <a:t>可解释评委能够接在线生成器更新，但仍需独立的人听结果。</a:t>
            </a:r>
          </a:p>
          <a:p xmlns:a="http://schemas.openxmlformats.org/drawingml/2006/main">
            <a:r>
              <a:t>D.2中“20 times”与“eight judgments”的采样预算描述存在歧义，不在本包复述为确定实验设置。</a:t>
            </a:r>
          </a:p>
          <a:p xmlns:a="http://schemas.openxmlformats.org/drawingml/2006/main">
            <a:r>
              <a:t>speech_enhance</a:t>
            </a:r>
          </a:p>
          <a:p xmlns:a="http://schemas.openxmlformats.org/drawingml/2006/main">
            <a:r>
              <a:t>语音增强</a:t>
            </a:r>
          </a:p>
          <a:p xmlns:a="http://schemas.openxmlformats.org/drawingml/2006/main">
            <a:r>
              <a:t>混合：主观MOS预测＋ASR内容代理</a:t>
            </a:r>
          </a:p>
          <a:p xmlns:a="http://schemas.openxmlformats.org/drawingml/2006/main">
            <a:r>
              <a:t>R = DNSMOS + (1 − WER) + UTMOS，原文等权；用GSPO后训练。DNSMOS看语音质量，UTMOS看语音自然度，WER提供内容约束。</a:t>
            </a:r>
          </a:p>
          <a:p xmlns:a="http://schemas.openxmlformats.org/drawingml/2006/main">
            <a:r>
              <a:t>原文用人评比较单项与综合奖励，并支持其特定设置下综合设计更好；不是仅看训练reward。</a:t>
            </a:r>
          </a:p>
          <a:p xmlns:a="http://schemas.openxmlformats.org/drawingml/2006/main">
            <a:r>
              <a:t>值得借鉴的是“互补目标＋人评消融”，不是把三个分数原样换到混合音乐上。</a:t>
            </a:r>
          </a:p>
          <a:p xmlns:a="http://schemas.openxmlformats.org/drawingml/2006/main">
            <a:r>
              <a:t>等权不等于等贡献，不同量尺、方差和组内归一化会改变实际影响；语音MOS不是音乐金标准，WER也会受识别器误差影响。</a:t>
            </a:r>
          </a:p>
          <a:p xmlns:a="http://schemas.openxmlformats.org/drawingml/2006/main">
            <a:r>
              <a:t>dlpo</a:t>
            </a:r>
          </a:p>
          <a:p xmlns:a="http://schemas.openxmlformats.org/drawingml/2006/main">
            <a:r>
              <a:t>TTS diffusion</a:t>
            </a:r>
          </a:p>
          <a:p xmlns:a="http://schemas.openxmlformats.org/drawingml/2006/main">
            <a:r>
              <a:t>语音自然度预测</a:t>
            </a:r>
          </a:p>
          <a:p xmlns:a="http://schemas.openxmlformats.org/drawingml/2006/main">
            <a:r>
              <a:t>用UTMOS作为奖励，同时保留原diffusion训练损失作为约束，降低只优化代理分的偏移。</a:t>
            </a:r>
          </a:p>
          <a:p xmlns:a="http://schemas.openxmlformats.org/drawingml/2006/main">
            <a:r>
              <a:t>本包以2405.14632v2为主要方法版本，不把不同标题的后续会议版本静默混成同一配置。</a:t>
            </a:r>
          </a:p>
          <a:p xmlns:a="http://schemas.openxmlformats.org/drawingml/2006/main">
            <a:r>
              <a:t>定向beat反馈应讨论如何保住原模型的覆盖、内容与质量；单加一个参考项不是可靠性的充分证明。</a:t>
            </a:r>
          </a:p>
          <a:p xmlns:a="http://schemas.openxmlformats.org/drawingml/2006/main">
            <a:r>
              <a:t>保持原任务能力与真正修复评委漏洞是不同事情。</a:t>
            </a:r>
          </a:p>
          <a:p xmlns:a="http://schemas.openxmlformats.org/drawingml/2006/main">
            <a:r>
              <a:t>diffro</a:t>
            </a:r>
          </a:p>
          <a:p xmlns:a="http://schemas.openxmlformats.org/drawingml/2006/main">
            <a:r>
              <a:t>情绪TTS</a:t>
            </a:r>
          </a:p>
          <a:p xmlns:a="http://schemas.openxmlformats.org/drawingml/2006/main">
            <a:r>
              <a:t>内容/情绪等学习型可微评委</a:t>
            </a:r>
          </a:p>
          <a:p xmlns:a="http://schemas.openxmlformats.org/drawingml/2006/main">
            <a:r>
              <a:t>DiffRO通过可微近似把token-domain奖励反馈给生成模型。RRPO针对情绪评委被click/plosive等伪影投机，主要强化RM：标签平滑、能量自适应mixup、对抗embedding训练。</a:t>
            </a:r>
          </a:p>
          <a:p xmlns:a="http://schemas.openxmlformats.org/drawingml/2006/main">
            <a:r>
              <a:t>RRPO显示被优化的情绪分数与真实自然度可能分离；其对评委鲁棒性的改进不能误写为三个actor正则损失。</a:t>
            </a:r>
          </a:p>
          <a:p xmlns:a="http://schemas.openxmlformats.org/drawingml/2006/main">
            <a:r>
              <a:t>与我们“排序准但更新后退化”的痛点直接相关：模型可找到静态评测集未覆盖的声音特征，必须评估当前生成分布与独立听感。</a:t>
            </a:r>
          </a:p>
          <a:p xmlns:a="http://schemas.openxmlformats.org/drawingml/2006/main">
            <a:r>
              <a:t>DiffRO是奖励直接反传，不等同于GRPO；token分数与最终渲染音频也可能错配。</a:t>
            </a:r>
          </a:p>
          <a:p xmlns:a="http://schemas.openxmlformats.org/drawingml/2006/main">
            <a:r>
              <a:t>ying</a:t>
            </a:r>
          </a:p>
          <a:p xmlns:a="http://schemas.openxmlformats.org/drawingml/2006/main">
            <a:r>
              <a:t>SVS</a:t>
            </a:r>
          </a:p>
          <a:p xmlns:a="http://schemas.openxmlformats.org/drawingml/2006/main">
            <a:r>
              <a:t>以歌词与旋律等弱可验证代理为主；2026版为多维奖励</a:t>
            </a:r>
          </a:p>
          <a:p xmlns:a="http://schemas.openxmlformats.org/drawingml/2006/main">
            <a:r>
              <a:t>2025版Flow-GRPO合成内容奖励1−WER和有声帧F0相关。2026版在课程式SFT后做GRPO，先对每个奖励维度分别组内标准化，再按权重相加；采用有限SDE窗口。</a:t>
            </a:r>
          </a:p>
          <a:p xmlns:a="http://schemas.openxmlformats.org/drawingml/2006/main">
            <a:r>
              <a:t>2026版有歌词/旋律客观指标、听评与阶段消融（尤其Table 4）；不是只比较两个不同架构的模型。</a:t>
            </a:r>
          </a:p>
          <a:p xmlns:a="http://schemas.openxmlformats.org/drawingml/2006/main">
            <a:r>
              <a:t>说明歌词与旋律目标可同时优化，GRPO不天然只能处理“温和奖励”。同时也说明反馈预处理、合格训练数据和约束很重要。</a:t>
            </a:r>
          </a:p>
          <a:p xmlns:a="http://schemas.openxmlformats.org/drawingml/2006/main">
            <a:r>
              <a:t>2026论文只明确M=4等设置，未把全部四项reward的实现细节写到足以逐项复现；不能把四个评测指标直接填成四个训练奖励。输入/输出以人声为主，不等于全曲伴奏合拍。F0相关也不保证绝对音高准确。</a:t>
            </a:r>
          </a:p>
          <a:p xmlns:a="http://schemas.openxmlformats.org/drawingml/2006/main">
            <a:r>
              <a:t>s2</a:t>
            </a:r>
          </a:p>
          <a:p xmlns:a="http://schemas.openxmlformats.org/drawingml/2006/main">
            <a:r>
              <a:t>歌声风格转换</a:t>
            </a:r>
          </a:p>
          <a:p xmlns:a="http://schemas.openxmlformats.org/drawingml/2006/main">
            <a:r>
              <a:t>人类标出的模型坏例</a:t>
            </a:r>
          </a:p>
          <a:p xmlns:a="http://schemas.openxmlformats.org/drawingml/2006/main">
            <a:r>
              <a:t>AR与flow模块先SFT，之后只对AR模块加入DPO式偏好训练；正例用GT，负例来自人工标出的重复、早停、抖动等生成坏例。原文简化pair loss并未显式给出标准reference/β形式。</a:t>
            </a:r>
          </a:p>
          <a:p xmlns:a="http://schemas.openxmlformats.org/drawingml/2006/main">
            <a:r>
              <a:t>作者描述坏例减少，但Table 2加入DPO后MOS 3.75→3.72、style 70→69、singer 59→58；不能声称全部平均指标上升，也不能把比赛整系统胜出归功DPO单阶段。</a:t>
            </a:r>
          </a:p>
          <a:p xmlns:a="http://schemas.openxmlformats.org/drawingml/2006/main">
            <a:r>
              <a:t>失败模式修正与总体均值提升是两种目标；我们的报告应把坏例率、覆盖度、节拍和总体听感分别列出。</a:t>
            </a:r>
          </a:p>
          <a:p xmlns:a="http://schemas.openxmlformats.org/drawingml/2006/main">
            <a:r>
              <a:t>GT正例可能与生成负例存在域差异；论文的坏例改善描述不是独立坏例率统计。</a:t>
            </a:r>
          </a:p>
          <a:p xmlns:a="http://schemas.openxmlformats.org/drawingml/2006/main">
            <a:r>
              <a:t>critic_only</a:t>
            </a:r>
          </a:p>
          <a:p xmlns:a="http://schemas.openxmlformats.org/drawingml/2006/main">
            <a:r>
              <a:t>SVS evaluation</a:t>
            </a:r>
          </a:p>
          <a:p xmlns:a="http://schemas.openxmlformats.org/drawingml/2006/main">
            <a:r>
              <a:t>多维主观点评与评分</a:t>
            </a:r>
          </a:p>
          <a:p xmlns:a="http://schemas.openxmlformats.org/drawingml/2006/main">
            <a:r>
              <a:t>VocalCritic提供歌声合成的多模态反馈/评价。</a:t>
            </a:r>
          </a:p>
          <a:p xmlns:a="http://schemas.openxmlformats.org/drawingml/2006/main">
            <a:r>
              <a:t>本次核验到的是评委工作；没有建立它通过RL更新生成器并改善听感的直接证据。</a:t>
            </a:r>
          </a:p>
          <a:p xmlns:a="http://schemas.openxmlformats.org/drawingml/2006/main">
            <a:r>
              <a:t>可以作为评价与未来反馈来源，而不是已经成功的SVS-RL先例。</a:t>
            </a:r>
          </a:p>
          <a:p xmlns:a="http://schemas.openxmlformats.org/drawingml/2006/main">
            <a:r>
              <a:t>评委与人评相关并不能推出优化这个评委后人听也提高。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1da633fad847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2e993894324d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c596f5b4214b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755a04a90b44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5e97840b0b43c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08010ac73e43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90AEB8-CFB4-468E-BA7A-FD58836A5A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4287AEE-8253-4139-85DC-E7038D2761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0F29038-6528-4CFC-B45C-4C10059F01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34C9F2-6779-4BD7-B211-DC15A60F9E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48D1664-4E8E-4F49-AC1C-7A2E9943B6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1BA02C-47EB-4035-AE25-96888AF024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BBD3AE-8747-4A3A-9952-E1045E790D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67E19B-E618-4C2E-943A-2E49486750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A44A10-9DE4-4635-8C30-71C488A3FC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24D344-8BBA-4F07-BCA0-8F8A2DB609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7bc2e6e3114f60" /><Relationship Type="http://schemas.openxmlformats.org/officeDocument/2006/relationships/slideLayout" Target="/ppt/slideLayouts/slideLayout1.xml" Id="R42a4811b282b48be" /><Relationship Type="http://schemas.openxmlformats.org/officeDocument/2006/relationships/slideLayout" Target="/ppt/slideLayouts/slideLayout2.xml" Id="Rc90f300a49f04a79" /><Relationship Type="http://schemas.openxmlformats.org/officeDocument/2006/relationships/slideLayout" Target="/ppt/slideLayouts/slideLayout3.xml" Id="Rab05508e87e34c6f" /><Relationship Type="http://schemas.openxmlformats.org/officeDocument/2006/relationships/slideLayout" Target="/ppt/slideLayouts/slideLayout4.xml" Id="R7c6865e7eb494690" /><Relationship Type="http://schemas.openxmlformats.org/officeDocument/2006/relationships/slideLayout" Target="/ppt/slideLayouts/slideLayout5.xml" Id="R20d2257403804460" /><Relationship Type="http://schemas.openxmlformats.org/officeDocument/2006/relationships/slideLayout" Target="/ppt/slideLayouts/slideLayout6.xml" Id="R190f15f1c0fe40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a4811b282b48be"/>
    <p:sldLayoutId xmlns:r="http://schemas.openxmlformats.org/officeDocument/2006/relationships" id="2147483650" r:id="Rc90f300a49f04a79"/>
    <p:sldLayoutId xmlns:r="http://schemas.openxmlformats.org/officeDocument/2006/relationships" id="2147483651" r:id="Rab05508e87e34c6f"/>
    <p:sldLayoutId xmlns:r="http://schemas.openxmlformats.org/officeDocument/2006/relationships" id="2147483652" r:id="R7c6865e7eb494690"/>
    <p:sldLayoutId xmlns:r="http://schemas.openxmlformats.org/officeDocument/2006/relationships" id="2147483653" r:id="R20d2257403804460"/>
    <p:sldLayoutId xmlns:r="http://schemas.openxmlformats.org/officeDocument/2006/relationships" id="2147483654" r:id="R190f15f1c0fe40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652e3462a74ee4" /><Relationship Type="http://schemas.openxmlformats.org/officeDocument/2006/relationships/notesSlide" Target="/ppt/notesSlides/notesSlide1.xml" Id="Rd6581007847b44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f647f1fe7946ba" /><Relationship Type="http://schemas.openxmlformats.org/officeDocument/2006/relationships/hyperlink" Target="https://arxiv.org/abs/2606.30642" TargetMode="External" Id="Rbbbbe35c393e4374" /><Relationship Type="http://schemas.openxmlformats.org/officeDocument/2006/relationships/hyperlink" Target="https://arxiv.org/abs/2601.10547" TargetMode="External" Id="R8c78025c00844149" /><Relationship Type="http://schemas.openxmlformats.org/officeDocument/2006/relationships/hyperlink" Target="https://arxiv.org/abs/2607.20253" TargetMode="External" Id="R9f02e6d67ff24b96" /><Relationship Type="http://schemas.openxmlformats.org/officeDocument/2006/relationships/hyperlink" Target="https://arxiv.org/abs/2603.24589" TargetMode="External" Id="Reea8a6dd7ad94aa2" /><Relationship Type="http://schemas.openxmlformats.org/officeDocument/2006/relationships/hyperlink" Target="https://arxiv.org/abs/2601.10547" TargetMode="External" Id="R5c57e92e93534117" /><Relationship Type="http://schemas.openxmlformats.org/officeDocument/2006/relationships/hyperlink" Target="https://arxiv.org/abs/2512.10264" TargetMode="External" Id="Rde59d27a41504c89" /><Relationship Type="http://schemas.openxmlformats.org/officeDocument/2006/relationships/hyperlink" Target="https://arxiv.org/abs/2608.30125" TargetMode="External" Id="Rfbfe9a4e46364fd0" /><Relationship Type="http://schemas.openxmlformats.org/officeDocument/2006/relationships/hyperlink" Target="https://arxiv.org/abs/2409.10157" TargetMode="External" Id="Rab2a93a681834ea8" /><Relationship Type="http://schemas.openxmlformats.org/officeDocument/2006/relationships/hyperlink" Target="https://arxiv.org/abs/2512.04552" TargetMode="External" Id="R2cf72b11c3b1461c" /><Relationship Type="http://schemas.openxmlformats.org/officeDocument/2006/relationships/hyperlink" Target="https://arxiv.org/abs/2512.19479" TargetMode="External" Id="R5abd94a1bdae4a2b" /><Relationship Type="http://schemas.openxmlformats.org/officeDocument/2006/relationships/hyperlink" Target="https://arxiv.org/abs/2606.30642" TargetMode="External" Id="R4ac4a2c732db4cc3" /><Relationship Type="http://schemas.openxmlformats.org/officeDocument/2006/relationships/hyperlink" Target="https://arxiv.org/abs/2607.20253" TargetMode="External" Id="R50034944b69549af" /><Relationship Type="http://schemas.openxmlformats.org/officeDocument/2006/relationships/hyperlink" Target="https://doi.org/10.1109/TASLPRO.2026.3705684" TargetMode="External" Id="R289fac60674d43c0" /><Relationship Type="http://schemas.openxmlformats.org/officeDocument/2006/relationships/hyperlink" Target="https://proceedings.mlr.press/v235/cideron24a.html" TargetMode="External" Id="Rb1a9078fc27546e5" /><Relationship Type="http://schemas.openxmlformats.org/officeDocument/2006/relationships/hyperlink" Target="https://arxiv.org/abs/2608.11755" TargetMode="External" Id="R10c4bf1439f244ba" /><Relationship Type="http://schemas.openxmlformats.org/officeDocument/2006/relationships/hyperlink" Target="https://arxiv.org/abs/2607.14749" TargetMode="External" Id="R1875738c66bd4153" /><Relationship Type="http://schemas.openxmlformats.org/officeDocument/2006/relationships/hyperlink" Target="https://arxiv.org/abs/2608.11755" TargetMode="External" Id="Rf5b2a940e7204fe2" /><Relationship Type="http://schemas.openxmlformats.org/officeDocument/2006/relationships/hyperlink" Target="https://arxiv.org/abs/2603.24589" TargetMode="External" Id="Rf091a1e428c74b6d" /><Relationship Type="http://schemas.openxmlformats.org/officeDocument/2006/relationships/hyperlink" Target="https://proceedings.mlr.press/v235/cideron24a.html" TargetMode="External" Id="R064b57226c3241f2" /><Relationship Type="http://schemas.openxmlformats.org/officeDocument/2006/relationships/hyperlink" Target="https://arxiv.org/abs/2608.30125" TargetMode="External" Id="R676a379d9b4e46d1" /><Relationship Type="http://schemas.openxmlformats.org/officeDocument/2006/relationships/notesSlide" Target="/ppt/notesSlides/notesSlide2.xml" Id="R2fe1db153c8146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bad70887ce4067" /><Relationship Type="http://schemas.openxmlformats.org/officeDocument/2006/relationships/hyperlink" Target="https://arxiv.org/abs/2304.05977" TargetMode="External" Id="R9a6567e39b784506" /><Relationship Type="http://schemas.openxmlformats.org/officeDocument/2006/relationships/hyperlink" Target="https://arxiv.org/abs/2304.05977" TargetMode="External" Id="R3ea34dcb4e904b8c" /><Relationship Type="http://schemas.openxmlformats.org/officeDocument/2006/relationships/hyperlink" Target="https://arxiv.org/abs/2305.13301" TargetMode="External" Id="R56e952feacb54c50" /><Relationship Type="http://schemas.openxmlformats.org/officeDocument/2006/relationships/hyperlink" Target="https://arxiv.org/abs/2311.12908" TargetMode="External" Id="Rb851b1ea04b6450c" /><Relationship Type="http://schemas.openxmlformats.org/officeDocument/2006/relationships/hyperlink" Target="https://arxiv.org/abs/2505.05470" TargetMode="External" Id="R0c1b8719960f4521" /><Relationship Type="http://schemas.openxmlformats.org/officeDocument/2006/relationships/hyperlink" Target="https://arxiv.org/abs/2510.22319" TargetMode="External" Id="R67b33c760c43436a" /><Relationship Type="http://schemas.openxmlformats.org/officeDocument/2006/relationships/hyperlink" Target="https://arxiv.org/abs/2509.16117" TargetMode="External" Id="Ra13deaf0814b4cde" /><Relationship Type="http://schemas.openxmlformats.org/officeDocument/2006/relationships/hyperlink" Target="https://arxiv.org/abs/2608.30125" TargetMode="External" Id="Rd54eff15c80346e4" /><Relationship Type="http://schemas.openxmlformats.org/officeDocument/2006/relationships/hyperlink" Target="https://arxiv.org/abs/2406.00654" TargetMode="External" Id="R5e3e3d6deaa84859" /><Relationship Type="http://schemas.openxmlformats.org/officeDocument/2006/relationships/hyperlink" Target="https://arxiv.org/abs/2409.10157" TargetMode="External" Id="R2f30cdd13c6041ed" /><Relationship Type="http://schemas.openxmlformats.org/officeDocument/2006/relationships/hyperlink" Target="https://arxiv.org/abs/2509.00685" TargetMode="External" Id="Ra244e982796a4c67" /><Relationship Type="http://schemas.openxmlformats.org/officeDocument/2006/relationships/hyperlink" Target="https://arxiv.org/abs/2502.02950" TargetMode="External" Id="Rc93b1cc467c2459d" /><Relationship Type="http://schemas.openxmlformats.org/officeDocument/2006/relationships/hyperlink" Target="https://arxiv.org/abs/2602.13891" TargetMode="External" Id="R7e1dfcd244a745e6" /><Relationship Type="http://schemas.openxmlformats.org/officeDocument/2006/relationships/hyperlink" Target="https://arxiv.org/abs/2606.21458" TargetMode="External" Id="Ra9e6ae14529a4900" /><Relationship Type="http://schemas.openxmlformats.org/officeDocument/2006/relationships/hyperlink" Target="https://arxiv.org/abs/2405.14632" TargetMode="External" Id="R07fb08e39c004361" /><Relationship Type="http://schemas.openxmlformats.org/officeDocument/2006/relationships/hyperlink" Target="https://arxiv.org/abs/2507.05911" TargetMode="External" Id="R4e892f3da347477d" /><Relationship Type="http://schemas.openxmlformats.org/officeDocument/2006/relationships/hyperlink" Target="https://arxiv.org/abs/2512.04552" TargetMode="External" Id="R2dbbedad4d9c4715" /><Relationship Type="http://schemas.openxmlformats.org/officeDocument/2006/relationships/hyperlink" Target="https://arxiv.org/abs/2603.24589" TargetMode="External" Id="R9cd6afc7e7e54345" /><Relationship Type="http://schemas.openxmlformats.org/officeDocument/2006/relationships/hyperlink" Target="https://arxiv.org/abs/2601.13629" TargetMode="External" Id="R5f8a8a37c67c4299" /><Relationship Type="http://schemas.openxmlformats.org/officeDocument/2006/relationships/hyperlink" Target="https://arxiv.org/abs/2512.02523" TargetMode="External" Id="Rc41c9a3548da499e" /><Relationship Type="http://schemas.openxmlformats.org/officeDocument/2006/relationships/hyperlink" Target="https://arxiv.org/abs/2512.04779" TargetMode="External" Id="Rc3ac84e78ccb44ab" /><Relationship Type="http://schemas.openxmlformats.org/officeDocument/2006/relationships/hyperlink" Target="https://arxiv.org/abs/2603.24589" TargetMode="External" Id="R4f8f48c500b6498e" /><Relationship Type="http://schemas.openxmlformats.org/officeDocument/2006/relationships/notesSlide" Target="/ppt/notesSlides/notesSlide3.xml" Id="R16961c771c9a48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AF1A7-FC26-43CA-A15D-8C9B4F2C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552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050" b="1">
                <a:solidFill>
                  <a:srgbClr val="2028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4050" b="1">
                <a:solidFill>
                  <a:srgbClr val="2028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202832"/>
                </a:solidFill>
                <a:latin typeface="Hiragino Sans GB"/>
                <a:ea typeface="Hiragino Sans GB"/>
                <a:cs typeface="Hiragino Sans GB"/>
              </a:rPr>
              <a:t>音乐生成模型的RL使用情况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811A0-F95F-43CF-9030-39AE593E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542925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3450" b="1">
                <a:solidFill>
                  <a:srgbClr val="91475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3450" b="1">
                <a:solidFill>
                  <a:srgbClr val="914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91475B"/>
                </a:solidFill>
                <a:latin typeface="Helvetica Neue"/>
                <a:ea typeface="Helvetica Neue"/>
                <a:cs typeface="Helvetica Neue"/>
              </a:rPr>
              <a:t>C1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BAE53-77A7-4200-AE1C-1566563C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1495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rPr>
              <a:t>商业模型的公开证据与开放模型的训练配方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86F4C-96F1-4FF0-817C-7B6EA971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3811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725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rPr>
              <a:t>证据优先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57CA0-79AA-4616-A384-7F9D0B707C77}"/>
              </a:ext>
            </a:extLst>
          </p:cNvPr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7068800" cy="7096125"/>
        </p:xfrm>
        <a:graphic xmlns:a="http://schemas.openxmlformats.org/drawingml/2006/main">
          <a:graphicData uri="http://schemas.openxmlformats.org/drawingml/2006/table">
            <a:tbl>
              <a:tblPr firstRow="0" firstCol="0" bandRow="0" bandCol="0"/>
              <a:tblGrid>
                <a:gridCol w="2047875"/>
                <a:gridCol w="3333750"/>
                <a:gridCol w="2857500"/>
                <a:gridCol w="4762500"/>
                <a:gridCol w="4067175"/>
              </a:tblGrid>
              <a:tr h="404432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75" b="1">
                          <a:solidFill>
                            <a:srgbClr val="293A4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判断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75" b="1">
                          <a:solidFill>
                            <a:srgbClr val="293A4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模型/版本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75" b="1">
                          <a:solidFill>
                            <a:srgbClr val="293A4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所在比较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75" b="1">
                          <a:solidFill>
                            <a:srgbClr val="293A4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公开后训练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75" b="1">
                          <a:solidFill>
                            <a:srgbClr val="293A4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边界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1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53616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未披露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Suno v6 / v6-mini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AA人声1/2；器乐1/2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未给可核验RL配方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未披露≠没用RL。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8C5C1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家族有RL披露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CEDD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Mureka V9.5 / V9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AA人声3/4；器乐3/4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官方称V7/V7.5用过RL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旧版声明不代表V9.5。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2261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明确披露RL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2F1E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Lyria 3.5 / 3 Pro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AA人声5/6；器乐6/5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官方卡：人类与评委反馈RL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具体算法与独立收益未知。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53616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未披露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Lyria 2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AA器乐18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本次未核到版本专属RL配方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不从3系倒推2。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53616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未披露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Eleven Music / v2 / v2.5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AA双榜均收录多个版本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发布页有盲听结果，无RL配方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盲听评测≠RLHF训练。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53616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未披露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MiniMax Music 3；2.6 / 2.5+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AA双榜；WSB含3与2.6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Music 3公开架构，未给RL配方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架构公开≠训练全公开。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4454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其他后训练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DDE5D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Stable Audio 3；2.5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AA器乐，3 Large第8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3明确对抗后训练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对抗训练≠策略梯度。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53616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未披露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Melodia v3（Sonauto）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AA人声13；器乐15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未核到公开RL训练流程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保留AA原模型名。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53616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原文未报告RL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MusicGen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AA器乐19；开放基线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原论文：监督式音乐token预测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经典基线，非全曲前沿。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53616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原文未报告RL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YuE2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WSB；开放前沿之一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公开监督式符号/音频联合建模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Best-of-8只是推理筛选。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53616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原文未报告RL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YuE 1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WSB；开放长歌基线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多阶段监督式token训练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不含其他论文的后训练。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23667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偏好对训练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2EEF1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LeVo 2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WSB；开放前沿之一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离线DPO → 半在线DPO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刷新候选≠刷新评委。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23667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偏好对训练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2EEF1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HeartMuLa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WSB；开放前沿之一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四阶段训练，末阶段DPO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需对应具体发布权重。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8C5C1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版本要区分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CEDD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Muse；MuseCritic后训练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WSB含原Muse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原Muse监督训练；MuseCritic用GRPO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WSB原Muse≠GRPO后Muse。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2261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组件有RL研究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2F1E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ACE-Step 1.5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WSB；开放前沿之一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LM用GRPO；DiT用DiffusionNFT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主表no RL；必须分组件。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23667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偏好对训练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2EEF1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DiffRhythm 2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WSB；开放流模型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CPPO：跨样本偏好优化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CPPO≠PPO。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8C5C1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版本要区分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CEDD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SongBloom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WSB；开放混合模型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2025版监督；2026期刊版加DPO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2026扩展≠WSB权重。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9ABFE-E20D-4180-8F3F-38CC10EC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05925"/>
            <a:ext cx="1638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10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410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10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rPr>
              <a:t>AA：2026-10-15。WSB：2026-09-12固定快照，192个条件、17个设置。两个基准不可直接拼榜。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CA7B1-B982-4AB6-92C8-8C010C64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10725"/>
            <a:ext cx="1638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10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410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10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rPr>
              <a:t>未披露不能判为未使用。偏好对训练与在线策略梯度分开，具体版本以公开证据为准。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9E3BA-BFC4-4A98-9645-84827938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0" y="9896475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A737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1200" b="0">
                <a:solidFill>
                  <a:srgbClr val="6A73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A737B"/>
                </a:solidFill>
                <a:latin typeface="Helvetica Neue"/>
                <a:ea typeface="Helvetica Neue"/>
                <a:cs typeface="Helvetica Neue"/>
              </a:rPr>
              <a:t>01/03</a:t>
            </a:r>
          </a:p>
        </p:txBody>
      </p:sp>
    </p:spTree>
    <p:extLst>
      <p:ext uri="{BB962C8B-B14F-4D97-AF65-F5344CB8AC3E}">
        <p14:creationId xmlns:p14="http://schemas.microsoft.com/office/powerpoint/2010/main" val="18041362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2FAB4-EF6E-4180-9ECD-A2A543C1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552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050" b="1">
                <a:solidFill>
                  <a:srgbClr val="2028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4050" b="1">
                <a:solidFill>
                  <a:srgbClr val="2028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202832"/>
                </a:solidFill>
                <a:latin typeface="Hiragino Sans GB"/>
                <a:ea typeface="Hiragino Sans GB"/>
                <a:cs typeface="Hiragino Sans GB"/>
              </a:rPr>
              <a:t>开放模型的后训练能力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98A14-BB26-44ED-81D4-334FC228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542925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3450" b="1">
                <a:solidFill>
                  <a:srgbClr val="91475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3450" b="1">
                <a:solidFill>
                  <a:srgbClr val="914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91475B"/>
                </a:solidFill>
                <a:latin typeface="Helvetica Neue"/>
                <a:ea typeface="Helvetica Neue"/>
                <a:cs typeface="Helvetica Neue"/>
              </a:rPr>
              <a:t>C2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43CA9-0E1D-408D-9DED-6E27855B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1495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rPr>
              <a:t>已有音乐证据、邻域参考与项目提案分开标注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3B19A-003F-4717-811A-D7C0EA26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3811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725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rPr>
              <a:t>证据优先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E523D-CCE1-496E-8A32-5D136E68412F}"/>
              </a:ext>
            </a:extLst>
          </p:cNvPr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7068800" cy="7096125"/>
        </p:xfrm>
        <a:graphic xmlns:a="http://schemas.openxmlformats.org/drawingml/2006/main">
          <a:graphicData uri="http://schemas.openxmlformats.org/drawingml/2006/table">
            <a:tbl>
              <a:tblPr firstRow="0" firstCol="0" bandRow="0" bandCol="0"/>
              <a:tblGrid>
                <a:gridCol w="1952625"/>
                <a:gridCol w="2476500"/>
                <a:gridCol w="3000375"/>
                <a:gridCol w="3190875"/>
                <a:gridCol w="2857500"/>
                <a:gridCol w="3590925"/>
              </a:tblGrid>
              <a:tr h="446437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838" b="1">
                          <a:solidFill>
                            <a:srgbClr val="293A4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证据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838" b="1">
                          <a:solidFill>
                            <a:srgbClr val="293A4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能力目标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838" b="1">
                          <a:solidFill>
                            <a:srgbClr val="293A4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反馈来源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838" b="1">
                          <a:solidFill>
                            <a:srgbClr val="293A4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可参考先例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838" b="1">
                          <a:solidFill>
                            <a:srgbClr val="293A4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更新路线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838" b="1">
                          <a:solidFill>
                            <a:srgbClr val="293A4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关键保底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1"/>
                    </a:solidFill>
                  </a:tcPr>
                </a:tc>
              </a:tr>
              <a:tr h="721376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2261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音乐已有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2F1E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歌词正确、完整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ASR/音素错误＋听写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bbbbe35c393e4374"/>
                        </a:rPr>
                        <a:t>LeVo 2</a:t>
                      </a: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；</a:t>
                      </a:r>
                      <a:r>
                        <a:rPr sz="1763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8c78025c00844149"/>
                        </a:rPr>
                        <a:t>HeartMuLa</a:t>
                      </a: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；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9f02e6d67ff24b96"/>
                        </a:rPr>
                        <a:t>FullSong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偏好对训练；可接在线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保住唱法、音质；ASR可能错。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9341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92445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项目提案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7E6E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歌声与伴奏合拍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节拍协同＋可信度＋人听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可借鉴</a:t>
                      </a:r>
                      <a:r>
                        <a:rPr sz="1763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eea8a6dd7ad94aa2"/>
                        </a:rPr>
                        <a:t>SVS旋律/歌词奖励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先偏好对；在线另判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不是BPM相近；拒绝静音投机。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</a:tr>
              <a:tr h="721376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2261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音乐已有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2F1E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更听指令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条件匹配评委＋明确检查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5c57e92e93534117"/>
                        </a:rPr>
                        <a:t>HeartMuLa</a:t>
                      </a: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；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de59d27a41504c89"/>
                        </a:rPr>
                        <a:t>MR-FlowDPO</a:t>
                      </a: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；</a:t>
                      </a:r>
                      <a:r>
                        <a:rPr sz="1763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fbfe9a4e46364fd0"/>
                        </a:rPr>
                        <a:t>VIBE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偏好对／在线奖励训练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风格匹配不等于好听；查负指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令。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1376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23667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邻域已有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2EEF1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情绪更贴切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同内容偏好＋情绪评委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ab2a93a681834ea8"/>
                        </a:rPr>
                        <a:t>Emo-DPO</a:t>
                      </a: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；</a:t>
                      </a:r>
                      <a:r>
                        <a:rPr sz="1763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2cf72b11c3b1461c"/>
                        </a:rPr>
                        <a:t>RRPO</a:t>
                      </a: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；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5abd94a1bdae4a2b"/>
                        </a:rPr>
                        <a:t>Emotion-Director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偏好对／奖励直接反传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不靠降速、固定乐器或噪声取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巧。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</a:tr>
              <a:tr h="721376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8C5C1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音乐相关先例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CEDD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段落更连贯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段落标注＋长程听评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4ac4a2c732db4cc3"/>
                        </a:rPr>
                        <a:t>LeVo 2</a:t>
                      </a: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；</a:t>
                      </a:r>
                      <a:r>
                        <a:rPr sz="1763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50034944b69549af"/>
                        </a:rPr>
                        <a:t>FullSong</a:t>
                      </a: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；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289fac60674d43c0"/>
                        </a:rPr>
                        <a:t>SongBloom扩展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偏好对；优先规划层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分段器只是代理；不追固定重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复。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1376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2261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音乐已有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2F1E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音质更自然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音乐音质评委＋盲听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b1a9078fc27546e5"/>
                        </a:rPr>
                        <a:t>MusicRL</a:t>
                      </a: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；</a:t>
                      </a:r>
                      <a:r>
                        <a:rPr sz="1763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10c4bf1439f244ba"/>
                        </a:rPr>
                        <a:t>MuseCritic</a:t>
                      </a: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；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1875738c66bd4153"/>
                        </a:rPr>
                        <a:t>WanSong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三条路线均有先例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语音MOS不能直接当音乐金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标准。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</a:tr>
              <a:tr h="721376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92445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项目提案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7E6E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编配更有层次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乐器/频谱检查＋同条件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听评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可借</a:t>
                      </a:r>
                      <a:r>
                        <a:rPr sz="1763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f5b2a940e7204fe2"/>
                        </a:rPr>
                        <a:t>多维音乐奖励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先做可信偏好对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不等于乐器越多、越响越好。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1376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23667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邻域已有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2EEF1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局部改写、其余保留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目标变化＋保留区差异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f091a1e428c74b6d"/>
                        </a:rPr>
                        <a:t>YingMusic-Singer</a:t>
                      </a: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歌词编辑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已有编辑接口上后训练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先有编辑接口；不能只靠RL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生出。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</a:tr>
              <a:tr h="439341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2261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音乐已有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2F1E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适应用户偏好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用户选择＋独立盲听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064b57226c3241f2"/>
                        </a:rPr>
                        <a:t>MusicRL</a:t>
                      </a: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群体偏好对齐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偏好对／在线奖励训练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群体对齐≠个人化已验证。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1376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2261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音乐已有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2F1E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配合视频情绪/节奏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视听条件评委＋时序检查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676a379d9b4e46d1"/>
                        </a:rPr>
                        <a:t>VIBE</a:t>
                      </a: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视频背景音乐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按奖励训练连续模型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10秒器乐不是全曲人声；跨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域须重验。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A8200-35C3-4B03-98E5-63400EEC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05925"/>
            <a:ext cx="1638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10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410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10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rPr>
              <a:t>音乐已有、音乐相关先例、邻域已有、项目提案分别标注。跨领域有效仍需在目标音乐基座验证。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36A59-0513-4FAE-8275-B8934DF8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10725"/>
            <a:ext cx="1638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10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410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10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rPr>
              <a:t>节拍协同同时检查歌词、覆盖度与音质。MusicRL支持群体偏好对齐，个人级定制另需验证。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102D8-FDB4-40C1-B254-E60F32BC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0" y="9896475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A737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1200" b="0">
                <a:solidFill>
                  <a:srgbClr val="6A73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A737B"/>
                </a:solidFill>
                <a:latin typeface="Helvetica Neue"/>
                <a:ea typeface="Helvetica Neue"/>
                <a:cs typeface="Helvetica Neue"/>
              </a:rPr>
              <a:t>02/03</a:t>
            </a:r>
          </a:p>
        </p:txBody>
      </p:sp>
    </p:spTree>
    <p:extLst>
      <p:ext uri="{BB962C8B-B14F-4D97-AF65-F5344CB8AC3E}">
        <p14:creationId xmlns:p14="http://schemas.microsoft.com/office/powerpoint/2010/main" val="4276184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379DF-A2D5-4C4F-8A60-0DDCACBB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552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050" b="1">
                <a:solidFill>
                  <a:srgbClr val="2028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4050" b="1">
                <a:solidFill>
                  <a:srgbClr val="2028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202832"/>
                </a:solidFill>
                <a:latin typeface="Hiragino Sans GB"/>
                <a:ea typeface="Hiragino Sans GB"/>
                <a:cs typeface="Hiragino Sans GB"/>
              </a:rPr>
              <a:t>主观与弱可验证奖励的跨领域实践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A5ECE-9E71-46EA-A558-3315285A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542925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3450" b="1">
                <a:solidFill>
                  <a:srgbClr val="91475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3450" b="1">
                <a:solidFill>
                  <a:srgbClr val="914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91475B"/>
                </a:solidFill>
                <a:latin typeface="Helvetica Neue"/>
                <a:ea typeface="Helvetica Neue"/>
                <a:cs typeface="Helvetica Neue"/>
              </a:rPr>
              <a:t>C3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CB30D-6913-4BCD-B8AC-1A770AF6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1495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rPr>
              <a:t>反馈来源、参数更新与独立验证分别比较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7D367-377B-4224-9A2A-0F056391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3811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725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rPr>
              <a:t>证据优先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0D784-FBB4-449B-9075-CA8E3060DE5A}"/>
              </a:ext>
            </a:extLst>
          </p:cNvPr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7068800" cy="7096125"/>
        </p:xfrm>
        <a:graphic xmlns:a="http://schemas.openxmlformats.org/drawingml/2006/main">
          <a:graphicData uri="http://schemas.openxmlformats.org/drawingml/2006/table">
            <a:tbl>
              <a:tblPr firstRow="0" firstCol="0" bandRow="0" bandCol="0"/>
              <a:tblGrid>
                <a:gridCol w="3143250"/>
                <a:gridCol w="1571625"/>
                <a:gridCol w="2857500"/>
                <a:gridCol w="2952750"/>
                <a:gridCol w="2952750"/>
                <a:gridCol w="3590925"/>
              </a:tblGrid>
              <a:tr h="419433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69" b="1">
                          <a:solidFill>
                            <a:srgbClr val="293A4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怎样更新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69" b="1">
                          <a:solidFill>
                            <a:srgbClr val="293A4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领域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69" b="1">
                          <a:solidFill>
                            <a:srgbClr val="293A4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代表工作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69" b="1">
                          <a:solidFill>
                            <a:srgbClr val="293A4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反馈依据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69" b="1">
                          <a:solidFill>
                            <a:srgbClr val="293A4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怎样确认改善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69" b="1">
                          <a:solidFill>
                            <a:srgbClr val="293A4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对我们最有用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1"/>
                    </a:solidFill>
                  </a:tcPr>
                </a:tc>
              </a:tr>
              <a:tr h="422257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1">
                          <a:solidFill>
                            <a:srgbClr val="4454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奖励直接反传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DDE5D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CV图像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9a6567e39b784506"/>
                        </a:rPr>
                        <a:t>ImageReward</a:t>
                      </a: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 / </a:t>
                      </a:r>
                      <a:r>
                        <a:rPr sz="1594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3ea34dcb4e904b8c"/>
                        </a:rPr>
                        <a:t>ReFL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人类偏好训练评委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独立人类偏好评测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评委能学偏好；仍可能被投机。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257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1">
                          <a:solidFill>
                            <a:srgbClr val="2261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在线奖励训练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2F1E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CV图像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56e952feacb54c50"/>
                        </a:rPr>
                        <a:t>DDPO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美学/可压缩性等代理分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目标分＋定性/额外评价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目标分高≠整体好。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</a:tr>
              <a:tr h="422257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1">
                          <a:solidFill>
                            <a:srgbClr val="23667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偏好对训练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2EEF1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CV图像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b851b1ea04b6450c"/>
                        </a:rPr>
                        <a:t>Diffusion-DPO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同提示图像好坏对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人类偏好与图像基准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不需显式评委；仍有标签噪声。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728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1">
                          <a:solidFill>
                            <a:srgbClr val="2261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在线奖励训练＋更新约束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2F1E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CV图像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0c1b8719960f4521"/>
                        </a:rPr>
                        <a:t>Flow-GRPO</a:t>
                      </a: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 /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67b33c760c43436a"/>
                        </a:rPr>
                        <a:t>GRPO-Guard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规则检查或学习型评委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任务分、质量、人类偏好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除了奖励，也查更新是否失控。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</a:tr>
              <a:tr h="67728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1">
                          <a:solidFill>
                            <a:srgbClr val="8C5C1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按奖励训练连续模型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CEDD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CV→音乐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a13deaf0814b4cde"/>
                        </a:rPr>
                        <a:t>DiffusionNFT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最终样本的黑盒评分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多任务＋人评；音乐另看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d54eff15c80346e4"/>
                        </a:rPr>
                        <a:t>VIBE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连续模型替代路线；不修奖励。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728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1">
                          <a:solidFill>
                            <a:srgbClr val="23667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偏好对训练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2EEF1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TTS语音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5e3e3d6deaa84859"/>
                        </a:rPr>
                        <a:t>UNO</a:t>
                      </a: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 / </a:t>
                      </a:r>
                      <a:r>
                        <a:rPr sz="1594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2f30cdd13c6041ed"/>
                        </a:rPr>
                        <a:t>Emo-DPO</a:t>
                      </a: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 /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a244e982796a4c67"/>
                        </a:rPr>
                        <a:t>MPO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人类好坏/情绪/多维偏好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MOS/偏好与内容指标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同条件构对；慎用模糊标签。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</a:tr>
              <a:tr h="422257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1">
                          <a:solidFill>
                            <a:srgbClr val="23667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偏好对训练（局部）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2EEF1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TTS语音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c93b1cc467c2459d"/>
                        </a:rPr>
                        <a:t>FPO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局部错误与细粒度偏好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质量与错误相关评测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局部纠错，保留其他好内容。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257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1">
                          <a:solidFill>
                            <a:srgbClr val="2261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评委＋在线奖励训练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2F1E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TTS语音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7e1dfcd244a745e6"/>
                        </a:rPr>
                        <a:t>GSRM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能解释理由的语音评委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生成器有人类A/B评测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评委准与生成器变好分开验。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</a:tr>
              <a:tr h="422257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1">
                          <a:solidFill>
                            <a:srgbClr val="2261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在线奖励训练（GSPO）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2F1E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语音增强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a9e6ae14529a4900"/>
                        </a:rPr>
                        <a:t>Perceptual Rewards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语音质量＋内容＋自然度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人评比较单项/综合奖励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多维互补；语音MOS不照搬。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257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1">
                          <a:solidFill>
                            <a:srgbClr val="2261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在线奖励＋原任务约束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2F1E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TTS语音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07fb08e39c004361"/>
                        </a:rPr>
                        <a:t>DLPO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UTMOS自然度分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主观与客观评测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保住原能力，不只追分。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</a:tr>
              <a:tr h="422257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1">
                          <a:solidFill>
                            <a:srgbClr val="92445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奖励反传＋强化评委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7E6E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情绪TTS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4e892f3da347477d"/>
                        </a:rPr>
                        <a:t>DiffRO</a:t>
                      </a: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 / </a:t>
                      </a:r>
                      <a:r>
                        <a:rPr sz="1594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2dbbedad4d9c4715"/>
                        </a:rPr>
                        <a:t>RRPO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可微内容/情绪评委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内容、情绪、自然度与听评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修评委鲁棒性，不只改策略。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257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1">
                          <a:solidFill>
                            <a:srgbClr val="2261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在线奖励训练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2F1E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SVS歌声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9cd6afc7e7e54345"/>
                        </a:rPr>
                        <a:t>YingMusic-Singer系列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歌词/旋律等多维代理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歌词、旋律、听评与阶段消融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多目标可改善；不等于伴奏合拍。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</a:tr>
              <a:tr h="422257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1">
                          <a:solidFill>
                            <a:srgbClr val="23667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偏好对训练（仅AR）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E2EEF1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歌声风格转换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5f8a8a37c67c4299"/>
                        </a:rPr>
                        <a:t>S²Voice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人工标出的生成坏例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均值分＋坏例描述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坏例与均值分开报告。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257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1">
                          <a:solidFill>
                            <a:srgbClr val="92445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只验证评委</a:t>
                      </a:r>
                    </a:p>
                  </a:txBody>
                  <a:tcPr marL="114300" marR="114300" marT="66675" marB="6667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7E6E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SVS评价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45D8C"/>
                          </a:solidFill>
                          <a:latin typeface="Hiragino Sans GB"/>
                          <a:ea typeface="Hiragino Sans GB"/>
                          <a:cs typeface="Hiragino Sans GB"/>
                          <a:hlinkClick xmlns:r="http://schemas.openxmlformats.org/officeDocument/2006/relationships" r:id="Rc41c9a3548da499e"/>
                        </a:rPr>
                        <a:t>VocalCritic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唱歌多维点评/分数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评委与人评的一致性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94" b="0">
                          <a:solidFill>
                            <a:srgbClr val="2028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好评委≠已证明能训好生成器。</a:t>
                      </a:r>
                    </a:p>
                  </a:txBody>
                  <a:tcPr marL="114300" marR="114300" marT="66675" marB="6667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3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02075-7DFA-475B-BB01-CC4A894C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05925"/>
            <a:ext cx="1638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10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410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10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rPr>
              <a:t>主观反馈与ASR、F0等弱可验证代理分开。目标分升高需要用独立听评确认。  YingMusic-Singer论文：</a:t>
            </a:r>
            <a:r>
              <a:rPr sz="1410" b="0">
                <a:solidFill>
                  <a:srgbClr val="245D8C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c3ac84e78ccb44ab"/>
              </a:rPr>
              <a:t>2025</a:t>
            </a:r>
            <a:r>
              <a:rPr sz="1410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rPr>
              <a:t> / </a:t>
            </a:r>
            <a:r>
              <a:rPr sz="1410" b="0">
                <a:solidFill>
                  <a:srgbClr val="245D8C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f8f48c500b6498e"/>
              </a:rPr>
              <a:t>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066B2-57B4-4422-A2C4-C05AE0B7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10725"/>
            <a:ext cx="1638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10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410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10" b="0">
                <a:solidFill>
                  <a:srgbClr val="6A737B"/>
                </a:solidFill>
                <a:latin typeface="Hiragino Sans GB"/>
                <a:ea typeface="Hiragino Sans GB"/>
                <a:cs typeface="Hiragino Sans GB"/>
              </a:rPr>
              <a:t>VocalCritic作为评委工作列入。S²Voice的坏例改善描述与平均分变化分别保留。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3E4A5-0B4F-45DC-9DA8-2ACC6B5B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0" y="9896475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A737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1200" b="0">
                <a:solidFill>
                  <a:srgbClr val="6A73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A737B"/>
                </a:solidFill>
                <a:latin typeface="Helvetica Neue"/>
                <a:ea typeface="Helvetica Neue"/>
                <a:cs typeface="Helvetica Neue"/>
              </a:rPr>
              <a:t>03/03</a:t>
            </a:r>
          </a:p>
        </p:txBody>
      </p:sp>
    </p:spTree>
    <p:extLst>
      <p:ext uri="{BB962C8B-B14F-4D97-AF65-F5344CB8AC3E}">
        <p14:creationId xmlns:p14="http://schemas.microsoft.com/office/powerpoint/2010/main" val="19400478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2026-10-15T05:45:55.6720000Z</dcterms:created>
  <dcterms:modified xsi:type="dcterms:W3CDTF">2026-10-15T05:45:55.6720000Z</dcterms:modified>
</coreProperties>
</file>